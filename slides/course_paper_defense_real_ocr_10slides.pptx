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обозначить тему и сразу снять риск завышения.
Работа не про готовый татарско-башкирский OCR-датасет, а про Arabic-script Turkic post-correction с пилотным real-OCR тестом.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важно проговорить терминологию.
Мы не утверждаем, что собрали татарско-башкирский датасет. Это шире: Arabic-script Turkic.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мост к главному результату.
Сначала показываем синтетику, потом честно показываем real-OCR разрыв.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Сказать, что этот этап был нужен для проверки пайплайна и модели.
Нельзя продавать synthetic как реальную готовность.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говорить “модель решила задачу”.
Говорим: модель научилась исправлять заданное распределение синтетических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слайд для честности.
Сказать: татарско-башкирские материалы — цель будущего расширения, но текущий real benchmark османский.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отрицательный результат.
Не оправдывать модель: по CER она ухудшает. Это честный research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Сказать, что WER здесь нужно трактовать осторожно.
Если символы портятся, модель нельзя выдавать за практический корректор.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объясняет, почему отрицательный результат полезен.
Мы теперь знаем, что нужно делать дальше: не просто усложнять synthetic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формулировка: это сильная курсовая и нормальный пилот для магистерской.
Не обещать больше, чем доказано.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OCR post-correction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8B2A8"/>
                </a:solidFill>
              </a:rPr>
              <a:t>для исторических тюркских текстов в арабской графике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76656" y="2423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B66A"/>
                </a:solidFill>
              </a:rPr>
              <a:t>Курсовая работа · HSE · обновлённая версия с real-OCR benchmark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1EA"/>
                </a:solidFill>
              </a:rPr>
              <a:t>Главная мысль: синтетика учит модель исправлять “похожий” шум, но настоящий OCR ломается иначе.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5760720" cy="0"/>
          </a:xfrm>
          <a:prstGeom prst="line">
            <a:avLst/>
          </a:prstGeom>
          <a:noFill/>
          <a:ln w="254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596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2A8"/>
                </a:solidFill>
              </a:rPr>
              <a:t>Радмир Исламов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Постановка: не “просто OCR”, а post-correction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Вход — ошибочный OCR-текст; выход — текст ближе к проверенной транскрипции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F1EA"/>
                </a:solidFill>
              </a:rPr>
              <a:t>image → OCR → noisy text → post-correction → corrected text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00" dirty="0">
                <a:solidFill>
                  <a:srgbClr val="F4F1EA"/>
                </a:solidFill>
              </a:rPr>
              <a:t>Работа фокусируется на текстовой посткоррекции, а не на обучении OCR с нуля.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Целевой класс: исторические тюркские тексты в арабо-персидской графике.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Старотатарские и старобашкирские материалы — мотивация и будущий целевой домен.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Текущий доступный real-OCR источник: османско-турецкая печатная книга.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6696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6B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87552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уровни эксперимента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96696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8C0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875520" y="4544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synthetic + real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задача сложная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Арабская графика + историческая орфография + малые открытые корпуса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685800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00" dirty="0">
                <a:solidFill>
                  <a:srgbClr val="F4F1EA"/>
                </a:solidFill>
              </a:rPr>
              <a:t>Для многих источников есть сканы, но нет постраничного gold text.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Синтетический шум не воспроизводит layout, качество скана, шрифт и ошибки сегментации.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Для арабографичных текстов CER важнее красивого word-level результата.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Даже если WER падает, модель может портить буквы и историческую орфографию.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7532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30613"/>
                </a:solidFill>
              </a:rPr>
              <a:t>Главный риск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75320" y="2057400"/>
            <a:ext cx="26974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1EA"/>
                </a:solidFill>
              </a:rPr>
              <a:t>модель выглядит успешной на synthetic benchmark, но не переносится на настоящий OCR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75320" y="3611880"/>
            <a:ext cx="2286000" cy="0"/>
          </a:xfrm>
          <a:prstGeom prst="line">
            <a:avLst/>
          </a:prstGeom>
          <a:noFill/>
          <a:ln w="25400">
            <a:solidFill>
              <a:srgbClr val="E306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Synthetic benchmark: контролируемый пилот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Модель учится на парах noisy → clean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6B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clean unique lines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AA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320/40/40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10896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train/val/test lines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8C0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85216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noisy-clean pairs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ByT5-512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59536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best model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700" dirty="0">
                <a:solidFill>
                  <a:srgbClr val="F4F1EA"/>
                </a:solidFill>
              </a:rPr>
              <a:t>Сравнивались identity baseline, rule-based normalizer, train-derived confusion baseline и ByT5-small.</a:t>
            </a:r>
            <a:endParaRPr lang="en-US" sz="1700" dirty="0"/>
          </a:p>
          <a:p>
            <a:r>
              <a:rPr lang="en-US" sz="1700" dirty="0">
                <a:solidFill>
                  <a:srgbClr val="F4F1EA"/>
                </a:solidFill>
              </a:rPr>
              <a:t>Разбиение сделано по clean lines, чтобы варианты одной строки не попадали одновременно в train и test.</a:t>
            </a:r>
            <a:endParaRPr lang="en-US" sz="1700" dirty="0"/>
          </a:p>
          <a:p>
            <a:r>
              <a:rPr lang="en-US" sz="1700" dirty="0">
                <a:solidFill>
                  <a:srgbClr val="F4F1EA"/>
                </a:solidFill>
              </a:rPr>
              <a:t>Synthetic benchmark нужен как controlled environment, а не как доказательство готовности к архивным сканам.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Synthetic results: модель работает, но не идеально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На синтетике ByT5 снижает WER заметнее, чем CER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Identity CER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1517904"/>
            <a:ext cx="26517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517904"/>
            <a:ext cx="2280514" cy="164592"/>
          </a:xfrm>
          <a:prstGeom prst="rect">
            <a:avLst/>
          </a:prstGeom>
          <a:solidFill>
            <a:srgbClr val="B8B2A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4813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0.086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ByT5 CER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80360" y="2340864"/>
            <a:ext cx="26517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340864"/>
            <a:ext cx="2121408" cy="164592"/>
          </a:xfrm>
          <a:prstGeom prst="rect">
            <a:avLst/>
          </a:prstGeom>
          <a:solidFill>
            <a:srgbClr val="78C091"/>
          </a:solidFill>
          <a:ln w="12700">
            <a:solidFill>
              <a:srgbClr val="78C0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3042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0.08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Identity 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3712464"/>
            <a:ext cx="26517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3712464"/>
            <a:ext cx="2502297" cy="164592"/>
          </a:xfrm>
          <a:prstGeom prst="rect">
            <a:avLst/>
          </a:prstGeom>
          <a:solidFill>
            <a:srgbClr val="B8B2A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6758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0.519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ByT5 WER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80360" y="4535424"/>
            <a:ext cx="26517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4535424"/>
            <a:ext cx="1779090" cy="164592"/>
          </a:xfrm>
          <a:prstGeom prst="rect">
            <a:avLst/>
          </a:prstGeom>
          <a:solidFill>
            <a:srgbClr val="78C091"/>
          </a:solidFill>
          <a:ln w="12700">
            <a:solidFill>
              <a:srgbClr val="78C0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4988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0.369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6B66A"/>
                </a:solidFill>
              </a:rPr>
              <a:t>Интерпретация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19659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F4F1EA"/>
                </a:solidFill>
              </a:rPr>
              <a:t>CER улучшается умеренно.</a:t>
            </a:r>
            <a:endParaRPr lang="en-US" sz="1600" dirty="0"/>
          </a:p>
          <a:p>
            <a:r>
              <a:rPr lang="en-US" sz="1600" dirty="0">
                <a:solidFill>
                  <a:srgbClr val="F4F1EA"/>
                </a:solidFill>
              </a:rPr>
              <a:t>WER падает сильнее, потому что synthetic noise включает пробелы и границы слов.</a:t>
            </a:r>
            <a:endParaRPr lang="en-US" sz="1600" dirty="0"/>
          </a:p>
          <a:p>
            <a:r>
              <a:rPr lang="en-US" sz="1600" dirty="0">
                <a:solidFill>
                  <a:srgbClr val="F4F1EA"/>
                </a:solidFill>
              </a:rPr>
              <a:t>ExactMatch остаётся низким: задача не сводится к полному восстановлению строки.</a:t>
            </a:r>
            <a:endParaRPr lang="en-US" sz="1600" dirty="0"/>
          </a:p>
          <a:p>
            <a:r>
              <a:rPr lang="en-US" sz="1600" dirty="0">
                <a:solidFill>
                  <a:srgbClr val="F4F1EA"/>
                </a:solidFill>
              </a:rPr>
              <a:t>Вывод: подход перспективен в synthetic-среде, но требует проверки на real OCR.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Real-OCR benchmark: что добавили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Османско-турецкий источник как доступный Arabic-script Turkic test case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6B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pages total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8C0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83464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eval pages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AA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90k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93776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clean chars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82k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04088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2A8"/>
                </a:solidFill>
              </a:rPr>
              <a:t>OCR chars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1EA"/>
                </a:solidFill>
              </a:rPr>
              <a:t>Важно: это не старотатарский и не старобашкирский датасет.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700" dirty="0">
                <a:solidFill>
                  <a:srgbClr val="F4F1EA"/>
                </a:solidFill>
              </a:rPr>
              <a:t>Источник используется как связанный тюркский текст в арабской графике.</a:t>
            </a:r>
            <a:endParaRPr lang="en-US" sz="1700" dirty="0"/>
          </a:p>
          <a:p>
            <a:r>
              <a:rPr lang="en-US" sz="1700" dirty="0">
                <a:solidFill>
                  <a:srgbClr val="F4F1EA"/>
                </a:solidFill>
              </a:rPr>
              <a:t>PDF, page images, OCR outputs, gold text и predictions остаются локально.</a:t>
            </a:r>
            <a:endParaRPr lang="en-US" sz="1700" dirty="0"/>
          </a:p>
          <a:p>
            <a:r>
              <a:rPr lang="en-US" sz="1700" dirty="0">
                <a:solidFill>
                  <a:srgbClr val="F4F1EA"/>
                </a:solidFill>
              </a:rPr>
              <a:t>В репозитории сохранены только скрипты и агрегированные summary-таблицы.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transfer: CER ухудшается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Synthetic-trained ByT5 не переносится надёжно на full-page OCR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Raw Tesseract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1563624"/>
            <a:ext cx="35661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563624"/>
            <a:ext cx="2524841" cy="164592"/>
          </a:xfrm>
          <a:prstGeom prst="rect">
            <a:avLst/>
          </a:prstGeom>
          <a:solidFill>
            <a:srgbClr val="78C091"/>
          </a:solidFill>
          <a:ln w="12700">
            <a:solidFill>
              <a:srgbClr val="78C0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527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0.354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55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ByT5 chunked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80360" y="2264664"/>
            <a:ext cx="35661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264664"/>
            <a:ext cx="3252338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228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0.456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56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Strict guarded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2965704"/>
            <a:ext cx="35661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2965704"/>
            <a:ext cx="2731679" cy="164592"/>
          </a:xfrm>
          <a:prstGeom prst="rect">
            <a:avLst/>
          </a:prstGeom>
          <a:solidFill>
            <a:srgbClr val="D6B66A"/>
          </a:solidFill>
          <a:ln w="12700">
            <a:solidFill>
              <a:srgbClr val="D6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291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0.383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B2A8"/>
                </a:solidFill>
              </a:rPr>
              <a:t>Mean CER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1EA"/>
                </a:solidFill>
              </a:rPr>
              <a:t>Чем ниже, тем лучше. По CER raw Tesseract остаётся лучшим.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28346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600" dirty="0">
                <a:solidFill>
                  <a:srgbClr val="F4F1EA"/>
                </a:solidFill>
              </a:rPr>
              <a:t>ByT5: 0.3539 → 0.4564</a:t>
            </a:r>
            <a:endParaRPr lang="en-US" sz="1600" dirty="0"/>
          </a:p>
          <a:p>
            <a:r>
              <a:rPr lang="en-US" sz="1600" dirty="0">
                <a:solidFill>
                  <a:srgbClr val="F4F1EA"/>
                </a:solidFill>
              </a:rPr>
              <a:t>Strict guard: 0.3828, безопаснее, но хуже raw OCR</a:t>
            </a:r>
            <a:endParaRPr lang="en-US" sz="1600" dirty="0"/>
          </a:p>
          <a:p>
            <a:r>
              <a:rPr lang="en-US" sz="1600" dirty="0">
                <a:solidFill>
                  <a:srgbClr val="F4F1EA"/>
                </a:solidFill>
              </a:rPr>
              <a:t>Для арабографичного OCR character-level ошибка критична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transfer: WER слегка лучше, но это не спасает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Word-level улучшение не равно надёжной OCR-коррекции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Raw Tesseract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1563624"/>
            <a:ext cx="35661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563624"/>
            <a:ext cx="3295132" cy="164592"/>
          </a:xfrm>
          <a:prstGeom prst="rect">
            <a:avLst/>
          </a:prstGeom>
          <a:solidFill>
            <a:srgbClr val="B8B2A8"/>
          </a:solidFill>
          <a:ln w="12700">
            <a:solidFill>
              <a:srgbClr val="B8B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527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0.924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55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ByT5 chunked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80360" y="2264664"/>
            <a:ext cx="35661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264664"/>
            <a:ext cx="3181015" cy="164592"/>
          </a:xfrm>
          <a:prstGeom prst="rect">
            <a:avLst/>
          </a:prstGeom>
          <a:solidFill>
            <a:srgbClr val="78C091"/>
          </a:solidFill>
          <a:ln w="12700">
            <a:solidFill>
              <a:srgbClr val="78C0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228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0.892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56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Strict guarded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2965704"/>
            <a:ext cx="356616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2965704"/>
            <a:ext cx="3223809" cy="164592"/>
          </a:xfrm>
          <a:prstGeom prst="rect">
            <a:avLst/>
          </a:prstGeom>
          <a:solidFill>
            <a:srgbClr val="D6B66A"/>
          </a:solidFill>
          <a:ln w="12700">
            <a:solidFill>
              <a:srgbClr val="D6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291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0.904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8B2A8"/>
                </a:solidFill>
              </a:rPr>
              <a:t>Mean WER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1508760"/>
            <a:ext cx="38404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</a:rPr>
              <a:t>WER падает, но NoSpaceCER и CER растут. Значит, модель может править пробелы, но портить символы.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13232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ByT5 improved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89720" y="3300984"/>
            <a:ext cx="146304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3300984"/>
            <a:ext cx="129092" cy="164592"/>
          </a:xfrm>
          <a:prstGeom prst="rect">
            <a:avLst/>
          </a:prstGeom>
          <a:solidFill>
            <a:srgbClr val="78C091"/>
          </a:solidFill>
          <a:ln w="12700">
            <a:solidFill>
              <a:srgbClr val="78C0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44200" y="32644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ByT5 worse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89720" y="4032504"/>
            <a:ext cx="1463040" cy="164592"/>
          </a:xfrm>
          <a:prstGeom prst="rect">
            <a:avLst/>
          </a:prstGeom>
          <a:solidFill>
            <a:srgbClr val="25232A"/>
          </a:solidFill>
          <a:ln w="12700">
            <a:solidFill>
              <a:srgbClr val="2523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4032504"/>
            <a:ext cx="1333948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44200" y="3995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</a:rPr>
              <a:t>62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перенос провалился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Synthetic noise и real OCR noise имеют разную природу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00" dirty="0">
                <a:solidFill>
                  <a:srgbClr val="F4F1EA"/>
                </a:solidFill>
              </a:rPr>
              <a:t>Synthetic noise — text-level искажения; real OCR — ещё и scan/layout/segmentation/font errors.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Модель обучалась на коротких строках, а real benchmark сейчас page-level.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Tesseract Arabic model не специализирован под османско-турецкую орфографию.</a:t>
            </a:r>
            <a:endParaRPr lang="en-US" sz="1800" dirty="0"/>
          </a:p>
          <a:p>
            <a:r>
              <a:rPr lang="en-US" sz="1800" dirty="0">
                <a:solidFill>
                  <a:srgbClr val="F4F1EA"/>
                </a:solidFill>
              </a:rPr>
              <a:t>Без aligned real OCR/reference chunks модель не видит настоящую структуру ошибок.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4108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6B66A"/>
                </a:solidFill>
              </a:rPr>
              <a:t>Следующий обязательный шаг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41080" y="2240280"/>
            <a:ext cx="2651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1EA"/>
                </a:solidFill>
              </a:rPr>
              <a:t>real-domain adaptation на выровненных OCR/reference чанках с page-level split без утечки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2A8"/>
                </a:solidFill>
              </a:rPr>
              <a:t>Работа теперь честно закрывает synthetic benchmark и real-OCR sanity check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698480" cy="0"/>
          </a:xfrm>
          <a:prstGeom prst="line">
            <a:avLst/>
          </a:prstGeom>
          <a:noFill/>
          <a:ln w="12700">
            <a:solidFill>
              <a:srgbClr val="2D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93268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900" dirty="0">
                <a:solidFill>
                  <a:srgbClr val="F4F1EA"/>
                </a:solidFill>
              </a:rPr>
              <a:t>Собран воспроизводимый pipeline для Arabic-script Turkic OCR post-correction.</a:t>
            </a:r>
            <a:endParaRPr lang="en-US" sz="1900" dirty="0"/>
          </a:p>
          <a:p>
            <a:r>
              <a:rPr lang="en-US" sz="1900" dirty="0">
                <a:solidFill>
                  <a:srgbClr val="F4F1EA"/>
                </a:solidFill>
              </a:rPr>
              <a:t>На synthetic benchmark ByT5-small 512 даёт лучший результат среди baseline-подходов.</a:t>
            </a:r>
            <a:endParaRPr lang="en-US" sz="1900" dirty="0"/>
          </a:p>
          <a:p>
            <a:r>
              <a:rPr lang="en-US" sz="1900" dirty="0">
                <a:solidFill>
                  <a:srgbClr val="F4F1EA"/>
                </a:solidFill>
              </a:rPr>
              <a:t>На real page-level Ottoman Turkish OCR synthetic-trained ByT5 не превосходит raw Tesseract по CER.</a:t>
            </a:r>
            <a:endParaRPr lang="en-US" sz="1900" dirty="0"/>
          </a:p>
          <a:p>
            <a:r>
              <a:rPr lang="en-US" sz="1900" dirty="0">
                <a:solidFill>
                  <a:srgbClr val="F4F1EA"/>
                </a:solidFill>
              </a:rPr>
              <a:t>Основной вывод: для практического применения нужна real-domain adaptation, а не только synthetic noise.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5166360"/>
            <a:ext cx="9601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6B66A"/>
                </a:solidFill>
              </a:rPr>
              <a:t>Не “готовая OCR-система”, а хороший пилотный research pipeline с честным ограничением.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7572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A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post-correction for low-resource Arabic-script Turkic historical texts</dc:title>
  <dc:subject>Course paper defense: OCR post-correction for Arabic-script Turkic historical texts</dc:subject>
  <dc:creator>Therad445</dc:creator>
  <cp:lastModifiedBy>Therad445</cp:lastModifiedBy>
  <cp:revision>1</cp:revision>
  <dcterms:created xsi:type="dcterms:W3CDTF">2026-06-24T01:06:46Z</dcterms:created>
  <dcterms:modified xsi:type="dcterms:W3CDTF">2026-06-24T01:06:46Z</dcterms:modified>
</cp:coreProperties>
</file>