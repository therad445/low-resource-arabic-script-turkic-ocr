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914400"/>
            <a:ext cx="452628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1078992"/>
            <a:ext cx="39776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ПИЛОТНАЯ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ПОСТКОРРЕКЦИЯ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АРАБОГРАФИЧНОГО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ТЮРКСКОГО ТЕКСТА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03504" y="36118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OCR с картинки, а проверяемый слой после распознавания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03504" y="4005072"/>
            <a:ext cx="1234440" cy="292608"/>
          </a:xfrm>
          <a:prstGeom prst="roundRect">
            <a:avLst/>
          </a:prstGeom>
          <a:solidFill>
            <a:srgbClr val="FFF0F3"/>
          </a:solidFill>
          <a:ln>
            <a:solidFill>
              <a:srgbClr val="FFF0F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post-correction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956816" y="4005072"/>
            <a:ext cx="987552" cy="292608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ByT5-small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3063240" y="4005072"/>
            <a:ext cx="1481328" cy="292608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39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real-OCR sanity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612648" y="5010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Радмир • НИУ ВШЭ • 2026</a:t>
            </a:r>
            <a:endParaRPr lang="en-US" sz="860" dirty="0"/>
          </a:p>
        </p:txBody>
      </p:sp>
      <p:pic>
        <p:nvPicPr>
          <p:cNvPr id="15" name="Image 1" descr="/mnt/data/template_media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777240"/>
            <a:ext cx="4663440" cy="42062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46520" y="480060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29400" y="4974336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рамка: исправляем уже полученный шумный OCR/OCR-like текст.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именно проблема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распознаванием и анализом текст ещё надо исправить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868680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24140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image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2057400" y="2606040"/>
            <a:ext cx="256032" cy="0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404872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6312" y="24140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OCR/HTR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3593592" y="2606040"/>
            <a:ext cx="256032" cy="0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941064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32504" y="24140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шумный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129784" y="2606040"/>
            <a:ext cx="310896" cy="0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532120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3560" y="24140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720840" y="2606040"/>
            <a:ext cx="438912" cy="0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251192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42632" y="24140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8439912" y="2606040"/>
            <a:ext cx="448056" cy="0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979408" y="21945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70848" y="24140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/ NER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804672" y="370332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4128" y="3931920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
</a:t>
            </a:r>
            <a:pPr indent="0" marL="0">
              <a:buNone/>
            </a:pPr>
            <a:r>
              <a:rPr lang="en-US" sz="12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OCR ломают поиск, индексацию, извлечение сущностей и последующий историко-лингвистический анализ.</a:t>
            </a:r>
            <a:endParaRPr lang="en-US" sz="1160" dirty="0"/>
          </a:p>
        </p:txBody>
      </p:sp>
      <p:pic>
        <p:nvPicPr>
          <p:cNvPr id="30" name="Image 1" descr="/mnt/data/template_media/image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987552"/>
            <a:ext cx="1325880" cy="102412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22960" y="565099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работы: не “распознать страницу”, а проверить, можно ли улучшать уже полученный OCR-текст.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задача неприятная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арабская графика + историческая орфография + мало данных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658368" y="187452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1965960"/>
            <a:ext cx="91440" cy="1051560"/>
          </a:xfrm>
          <a:prstGeom prst="roundRect">
            <a:avLst>
              <a:gd name="adj" fmla="val 40000"/>
            </a:avLst>
          </a:prstGeom>
          <a:solidFill>
            <a:srgbClr val="4E63FF"/>
          </a:solidFill>
          <a:ln w="12700">
            <a:solidFill>
              <a:srgbClr val="4E63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2039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Арабская</a:t>
            </a:r>
            <a:endParaRPr lang="en-US" sz="1180" dirty="0"/>
          </a:p>
          <a:p>
            <a:pPr algn="l" indent="0" marL="0">
              <a:buNone/>
            </a:pPr>
            <a:r>
              <a:rPr lang="en-US" sz="118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графика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859536" y="2459736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позиционные формы, точки, похожие начертания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2670048" y="187452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0" y="1965960"/>
            <a:ext cx="91440" cy="1051560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71216" y="20391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Историческая</a:t>
            </a:r>
            <a:endParaRPr lang="en-US" sz="1180" dirty="0"/>
          </a:p>
          <a:p>
            <a:pPr algn="l" indent="0" marL="0">
              <a:buNone/>
            </a:pPr>
            <a:r>
              <a:rPr lang="en-US" sz="118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орфография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2871216" y="2459736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вариативность нельзя грубо нормализовать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658368" y="3401568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3493008"/>
            <a:ext cx="91440" cy="105156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" y="35661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</a:t>
            </a:r>
            <a:endParaRPr lang="en-US" sz="1180" dirty="0"/>
          </a:p>
          <a:p>
            <a:pPr algn="l" indent="0" marL="0">
              <a:buNone/>
            </a:pPr>
            <a:r>
              <a:rPr lang="en-US" sz="118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859536" y="398678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большого готового benchmark именно для этой постановки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2670048" y="3401568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0" y="3493008"/>
            <a:ext cx="91440" cy="1051560"/>
          </a:xfrm>
          <a:prstGeom prst="roundRect">
            <a:avLst>
              <a:gd name="adj" fmla="val 40000"/>
            </a:avLst>
          </a:prstGeom>
          <a:solidFill>
            <a:srgbClr val="149A8B"/>
          </a:solidFill>
          <a:ln w="12700">
            <a:solidFill>
              <a:srgbClr val="149A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71216" y="35661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4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180" dirty="0"/>
          </a:p>
          <a:p>
            <a:pPr algn="l" indent="0" marL="0">
              <a:buNone/>
            </a:pPr>
            <a:r>
              <a:rPr lang="en-US" sz="1180" b="1" dirty="0">
                <a:solidFill>
                  <a:srgbClr val="14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неполны</a:t>
            </a:r>
            <a:endParaRPr lang="en-US" sz="1180" dirty="0"/>
          </a:p>
        </p:txBody>
      </p:sp>
      <p:sp>
        <p:nvSpPr>
          <p:cNvPr id="26" name="Text 23"/>
          <p:cNvSpPr/>
          <p:nvPr/>
        </p:nvSpPr>
        <p:spPr>
          <a:xfrm>
            <a:off x="2871216" y="3986784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CER/WER нужны, но не заменяют ручную проверку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4956048" y="1719072"/>
            <a:ext cx="3154680" cy="38862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pic>
        <p:nvPicPr>
          <p:cNvPr id="28" name="Image 1" descr="/mnt/data/page_056_thumb.png">    </p:cNvPr>
          <p:cNvPicPr>
            <a:picLocks noChangeAspect="1"/>
          </p:cNvPicPr>
          <p:nvPr/>
        </p:nvPicPr>
        <p:blipFill>
          <a:blip r:embed="rId2"/>
          <a:srcRect l="0" r="0" t="10694" b="10694"/>
          <a:stretch/>
        </p:blipFill>
        <p:spPr>
          <a:xfrm>
            <a:off x="5120640" y="1865376"/>
            <a:ext cx="2816352" cy="35661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8394192" y="1828800"/>
            <a:ext cx="2971800" cy="1280160"/>
          </a:xfrm>
          <a:prstGeom prst="roundRect">
            <a:avLst>
              <a:gd name="adj" fmla="val 5714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595360" y="199339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нельзя делать</a:t>
            </a:r>
            <a:endParaRPr lang="en-US" sz="1120" dirty="0"/>
          </a:p>
        </p:txBody>
      </p:sp>
      <p:sp>
        <p:nvSpPr>
          <p:cNvPr id="31" name="Text 27"/>
          <p:cNvSpPr/>
          <p:nvPr/>
        </p:nvSpPr>
        <p:spPr>
          <a:xfrm>
            <a:off x="8595360" y="224942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“Почистить всё правилами” — можно стереть исторически значимые варианты.</a:t>
            </a:r>
            <a:endParaRPr lang="en-US" sz="1060" dirty="0"/>
          </a:p>
        </p:txBody>
      </p:sp>
      <p:sp>
        <p:nvSpPr>
          <p:cNvPr id="32" name="Shape 28"/>
          <p:cNvSpPr/>
          <p:nvPr/>
        </p:nvSpPr>
        <p:spPr>
          <a:xfrm>
            <a:off x="8394192" y="3456432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595360" y="361188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</a:t>
            </a:r>
            <a:endParaRPr lang="en-US" sz="1120" dirty="0"/>
          </a:p>
        </p:txBody>
      </p:sp>
      <p:sp>
        <p:nvSpPr>
          <p:cNvPr id="34" name="Text 30"/>
          <p:cNvSpPr/>
          <p:nvPr/>
        </p:nvSpPr>
        <p:spPr>
          <a:xfrm>
            <a:off x="8595360" y="386791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Узкий воспроизводимый pilot: noisy/OCR text → clean text.</a:t>
            </a:r>
            <a:endParaRPr lang="en-US" sz="1060" dirty="0"/>
          </a:p>
        </p:txBody>
      </p:sp>
      <p:sp>
        <p:nvSpPr>
          <p:cNvPr id="35" name="Text 31"/>
          <p:cNvSpPr/>
          <p:nvPr/>
        </p:nvSpPr>
        <p:spPr>
          <a:xfrm>
            <a:off x="731520" y="562356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Стратегия: честный pilot study вместо обещания “полной OCR-системы”.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построено в проекте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контролируемый pipeline: данные → шум/OCR → модель → метрики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822960" y="1938528"/>
            <a:ext cx="1536192" cy="804672"/>
          </a:xfrm>
          <a:prstGeom prst="roundRect">
            <a:avLst>
              <a:gd name="adj" fmla="val 9091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167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2386584" y="2340864"/>
            <a:ext cx="146304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560320" y="1938528"/>
            <a:ext cx="1536192" cy="804672"/>
          </a:xfrm>
          <a:prstGeom prst="roundRect">
            <a:avLst>
              <a:gd name="adj" fmla="val 9091"/>
            </a:avLst>
          </a:prstGeom>
          <a:solidFill>
            <a:srgbClr val="EEF2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88336" y="2167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4123944" y="2340864"/>
            <a:ext cx="146304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297680" y="1938528"/>
            <a:ext cx="15361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25696" y="2167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861304" y="2340864"/>
            <a:ext cx="146304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035040" y="1938528"/>
            <a:ext cx="1536192" cy="804672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63056" y="2167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4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 /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4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598664" y="2340864"/>
            <a:ext cx="146304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772400" y="1938528"/>
            <a:ext cx="1536192" cy="804672"/>
          </a:xfrm>
          <a:prstGeom prst="roundRect">
            <a:avLst>
              <a:gd name="adj" fmla="val 9091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0416" y="2167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errors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841248" y="3401568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4400" y="3493008"/>
            <a:ext cx="91440" cy="868680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354787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corpus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024128" y="378561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024128" y="411480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blocks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2999232" y="3401568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072384" y="3493008"/>
            <a:ext cx="91440" cy="868680"/>
          </a:xfrm>
          <a:prstGeom prst="roundRect">
            <a:avLst>
              <a:gd name="adj" fmla="val 40000"/>
            </a:avLst>
          </a:prstGeom>
          <a:solidFill>
            <a:srgbClr val="4E63FF"/>
          </a:solidFill>
          <a:ln w="12700">
            <a:solidFill>
              <a:srgbClr val="4E63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82112" y="354787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3182112" y="378561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6400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3182112" y="411480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lines</a:t>
            </a:r>
            <a:endParaRPr lang="en-US" sz="820" dirty="0"/>
          </a:p>
        </p:txBody>
      </p:sp>
      <p:sp>
        <p:nvSpPr>
          <p:cNvPr id="35" name="Shape 32"/>
          <p:cNvSpPr/>
          <p:nvPr/>
        </p:nvSpPr>
        <p:spPr>
          <a:xfrm>
            <a:off x="5157216" y="3401568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230368" y="3493008"/>
            <a:ext cx="91440" cy="868680"/>
          </a:xfrm>
          <a:prstGeom prst="roundRect">
            <a:avLst>
              <a:gd name="adj" fmla="val 40000"/>
            </a:avLst>
          </a:prstGeom>
          <a:solidFill>
            <a:srgbClr val="13936F"/>
          </a:solidFill>
          <a:ln w="12700">
            <a:solidFill>
              <a:srgbClr val="13936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40096" y="354787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/ test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5340096" y="378561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39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/ 800</a:t>
            </a:r>
            <a:endParaRPr lang="en-US" sz="1650" dirty="0"/>
          </a:p>
        </p:txBody>
      </p:sp>
      <p:sp>
        <p:nvSpPr>
          <p:cNvPr id="39" name="Text 36"/>
          <p:cNvSpPr/>
          <p:nvPr/>
        </p:nvSpPr>
        <p:spPr>
          <a:xfrm>
            <a:off x="5340096" y="411480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leakage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7360920" y="329184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71232" y="34930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Инженерная деталь</a:t>
            </a:r>
            <a:endParaRPr lang="en-US" sz="1120" dirty="0"/>
          </a:p>
        </p:txBody>
      </p:sp>
      <p:sp>
        <p:nvSpPr>
          <p:cNvPr id="42" name="Text 39"/>
          <p:cNvSpPr/>
          <p:nvPr/>
        </p:nvSpPr>
        <p:spPr>
          <a:xfrm>
            <a:off x="7571232" y="37490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сделан по исходным clean lines: варианты одной строки не попадают в разные split-ы.</a:t>
            </a:r>
            <a:endParaRPr lang="en-US" sz="1080" dirty="0"/>
          </a:p>
        </p:txBody>
      </p:sp>
      <p:pic>
        <p:nvPicPr>
          <p:cNvPr id="43" name="Image 1" descr="/mnt/data/template_media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914400"/>
            <a:ext cx="1325880" cy="91440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859536" y="565099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 добавлен sanity check на real OCR: page image → Tesseract → noisy OCR text → ByT5.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Методология: честное сравнение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одна модель в вакууме, а baseline → model → error analysis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713232" y="1682496"/>
            <a:ext cx="31546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1773936"/>
            <a:ext cx="91440" cy="493776"/>
          </a:xfrm>
          <a:prstGeom prst="roundRect">
            <a:avLst>
              <a:gd name="adj" fmla="val 400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810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baseline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32688" y="203911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ничего не исправляет: нижняя граница качества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713232" y="2523744"/>
            <a:ext cx="31546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" y="2615184"/>
            <a:ext cx="91440" cy="493776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2688" y="26517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normalizer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32688" y="288036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проверка: помогают ли простые правила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713232" y="3364992"/>
            <a:ext cx="31546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" y="3456432"/>
            <a:ext cx="91440" cy="493776"/>
          </a:xfrm>
          <a:prstGeom prst="roundRect">
            <a:avLst>
              <a:gd name="adj" fmla="val 40000"/>
            </a:avLst>
          </a:prstGeom>
          <a:solidFill>
            <a:srgbClr val="4E63FF"/>
          </a:solidFill>
          <a:ln w="12700">
            <a:solidFill>
              <a:srgbClr val="4E63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2688" y="34930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Char-confusion baseline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32688" y="37216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простая модель ошибок по train split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713232" y="4206240"/>
            <a:ext cx="31546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6384" y="4297680"/>
            <a:ext cx="91440" cy="493776"/>
          </a:xfrm>
          <a:prstGeom prst="roundRect">
            <a:avLst>
              <a:gd name="adj" fmla="val 40000"/>
            </a:avLst>
          </a:prstGeom>
          <a:solidFill>
            <a:srgbClr val="149A8B"/>
          </a:solidFill>
          <a:ln w="12700">
            <a:solidFill>
              <a:srgbClr val="149A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2688" y="433425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ByT5-small 512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32688" y="45628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byte-level seq2seq для noisy/OCR → clean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4251960" y="1682496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80560" y="18653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160" dirty="0"/>
          </a:p>
        </p:txBody>
      </p:sp>
      <p:sp>
        <p:nvSpPr>
          <p:cNvPr id="29" name="Text 26"/>
          <p:cNvSpPr/>
          <p:nvPr/>
        </p:nvSpPr>
        <p:spPr>
          <a:xfrm>
            <a:off x="4480560" y="2139696"/>
            <a:ext cx="19385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— character edits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— word edits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NoSpaceCER — без влияния пробелов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ExactMatch — строгая строка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behavior — improved / unchanged / worse</a:t>
            </a:r>
            <a:endParaRPr lang="en-US" sz="1020" dirty="0"/>
          </a:p>
        </p:txBody>
      </p:sp>
      <p:sp>
        <p:nvSpPr>
          <p:cNvPr id="30" name="Shape 27"/>
          <p:cNvSpPr/>
          <p:nvPr/>
        </p:nvSpPr>
        <p:spPr>
          <a:xfrm>
            <a:off x="7150608" y="1993392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88352" y="2212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NoSpaceCER?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388352" y="250545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может заметно улучшаться из-за пробелов и границ слов. NoSpaceCER показывает, есть ли посимвольный эффект без whitespace.</a:t>
            </a:r>
            <a:endParaRPr lang="en-US" sz="1100" dirty="0"/>
          </a:p>
        </p:txBody>
      </p:sp>
      <p:pic>
        <p:nvPicPr>
          <p:cNvPr id="33" name="Image 1" descr="/mnt/data/template_media/image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841248"/>
            <a:ext cx="1325880" cy="9144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22960" y="5650992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дают сигнал, но не заменяют ручную проверку исторического текста.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benchmark results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ByT5-small 512 помогает; простые rules вредят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822960" y="1536192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1627632"/>
            <a:ext cx="91440" cy="868680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168249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1005840" y="19202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0.086 → 0.080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05840" y="224942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→ ByT5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3063240" y="1536192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36392" y="1627632"/>
            <a:ext cx="91440" cy="868680"/>
          </a:xfrm>
          <a:prstGeom prst="roundRect">
            <a:avLst>
              <a:gd name="adj" fmla="val 40000"/>
            </a:avLst>
          </a:prstGeom>
          <a:solidFill>
            <a:srgbClr val="4E63FF"/>
          </a:solidFill>
          <a:ln w="12700">
            <a:solidFill>
              <a:srgbClr val="4E63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46120" y="168249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246120" y="19202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0.519 → 0.369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3246120" y="224942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→ ByT5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5303520" y="1536192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76672" y="1627632"/>
            <a:ext cx="91440" cy="868680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0" y="168249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5486400" y="1920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хуже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486400" y="2249424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0.152 / WER 0.684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7818120" y="141732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0" y="166420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synthetic result</a:t>
            </a:r>
            <a:endParaRPr lang="en-US" sz="1140" dirty="0"/>
          </a:p>
        </p:txBody>
      </p:sp>
      <p:sp>
        <p:nvSpPr>
          <p:cNvPr id="28" name="Text 25"/>
          <p:cNvSpPr/>
          <p:nvPr/>
        </p:nvSpPr>
        <p:spPr>
          <a:xfrm>
            <a:off x="804672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ByT5-small — лучший среди рассмотренных методов, но это controlled benchmark.</a:t>
            </a:r>
            <a:endParaRPr lang="en-US" sz="1090" dirty="0"/>
          </a:p>
        </p:txBody>
      </p:sp>
      <p:sp>
        <p:nvSpPr>
          <p:cNvPr id="29" name="Shape 26"/>
          <p:cNvSpPr/>
          <p:nvPr/>
        </p:nvSpPr>
        <p:spPr>
          <a:xfrm>
            <a:off x="868680" y="2971800"/>
            <a:ext cx="10195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43000" y="32369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1783080" y="3218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1783080" y="3383280"/>
            <a:ext cx="2240280" cy="146304"/>
          </a:xfrm>
          <a:prstGeom prst="roundRect">
            <a:avLst>
              <a:gd name="adj" fmla="val 3125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783080" y="3383280"/>
            <a:ext cx="1204151" cy="146304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96512" y="33558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0.086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783080" y="356616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1783080" y="3730752"/>
            <a:ext cx="2240280" cy="146304"/>
          </a:xfrm>
          <a:prstGeom prst="roundRect">
            <a:avLst>
              <a:gd name="adj" fmla="val 3125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83080" y="3730752"/>
            <a:ext cx="2128266" cy="146304"/>
          </a:xfrm>
          <a:prstGeom prst="roundRect">
            <a:avLst>
              <a:gd name="adj" fmla="val 3125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96512" y="370332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0.152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783080" y="391363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1783080" y="4078224"/>
            <a:ext cx="2240280" cy="146304"/>
          </a:xfrm>
          <a:prstGeom prst="roundRect">
            <a:avLst>
              <a:gd name="adj" fmla="val 3125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783080" y="4078224"/>
            <a:ext cx="1120140" cy="146304"/>
          </a:xfrm>
          <a:prstGeom prst="roundRect">
            <a:avLst>
              <a:gd name="adj" fmla="val 31250"/>
            </a:avLst>
          </a:prstGeom>
          <a:solidFill>
            <a:srgbClr val="4E63FF"/>
          </a:solidFill>
          <a:ln w="12700">
            <a:solidFill>
              <a:srgbClr val="4E63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096512" y="405079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5532120" y="32369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</a:t>
            </a:r>
            <a:endParaRPr lang="en-US" sz="820" dirty="0"/>
          </a:p>
        </p:txBody>
      </p:sp>
      <p:sp>
        <p:nvSpPr>
          <p:cNvPr id="44" name="Text 41"/>
          <p:cNvSpPr/>
          <p:nvPr/>
        </p:nvSpPr>
        <p:spPr>
          <a:xfrm>
            <a:off x="6172200" y="32186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6172200" y="3383280"/>
            <a:ext cx="2240280" cy="146304"/>
          </a:xfrm>
          <a:prstGeom prst="roundRect">
            <a:avLst>
              <a:gd name="adj" fmla="val 3125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72200" y="3383280"/>
            <a:ext cx="1661008" cy="146304"/>
          </a:xfrm>
          <a:prstGeom prst="roundRect">
            <a:avLst>
              <a:gd name="adj" fmla="val 3125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85632" y="335584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0.519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172200" y="356616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6172200" y="3730752"/>
            <a:ext cx="2240280" cy="146304"/>
          </a:xfrm>
          <a:prstGeom prst="roundRect">
            <a:avLst>
              <a:gd name="adj" fmla="val 3125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172200" y="3730752"/>
            <a:ext cx="2189074" cy="146304"/>
          </a:xfrm>
          <a:prstGeom prst="roundRect">
            <a:avLst>
              <a:gd name="adj" fmla="val 3125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85632" y="370332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0.684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6172200" y="391363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6172200" y="4078224"/>
            <a:ext cx="2240280" cy="146304"/>
          </a:xfrm>
          <a:prstGeom prst="roundRect">
            <a:avLst>
              <a:gd name="adj" fmla="val 3125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172200" y="4078224"/>
            <a:ext cx="1180948" cy="146304"/>
          </a:xfrm>
          <a:prstGeom prst="roundRect">
            <a:avLst>
              <a:gd name="adj" fmla="val 31250"/>
            </a:avLst>
          </a:prstGeom>
          <a:solidFill>
            <a:srgbClr val="4E63FF"/>
          </a:solidFill>
          <a:ln w="12700">
            <a:solidFill>
              <a:srgbClr val="4E63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485632" y="405079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0.369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914400" y="537667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“прорыв”: полезный пилотный сигнал, WER лучше заметно, CER — умеренно.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средняя метрика не всё объясняет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line-level behavior показывает пользу и риск модели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777240" y="1609344"/>
            <a:ext cx="288036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0392" y="1700784"/>
            <a:ext cx="91440" cy="896112"/>
          </a:xfrm>
          <a:prstGeom prst="roundRect">
            <a:avLst>
              <a:gd name="adj" fmla="val 40000"/>
            </a:avLst>
          </a:prstGeom>
          <a:solidFill>
            <a:srgbClr val="13936F"/>
          </a:solidFill>
          <a:ln w="12700">
            <a:solidFill>
              <a:srgbClr val="1393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1755648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improved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960120" y="1993392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39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682 / 800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60120" y="2322576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4160520" y="1609344"/>
            <a:ext cx="28803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33672" y="1700784"/>
            <a:ext cx="91440" cy="896112"/>
          </a:xfrm>
          <a:prstGeom prst="roundRect">
            <a:avLst>
              <a:gd name="adj" fmla="val 4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755648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unchanged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4343400" y="1993392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800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343400" y="2322576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7543800" y="1609344"/>
            <a:ext cx="2880360" cy="1078992"/>
          </a:xfrm>
          <a:prstGeom prst="roundRect">
            <a:avLst>
              <a:gd name="adj" fmla="val 6780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16952" y="1700784"/>
            <a:ext cx="91440" cy="896112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26680" y="1755648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worsened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7726680" y="1993392"/>
            <a:ext cx="2624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/ 800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7726680" y="2322576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804672" y="315468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33649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4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Whitespace sanity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1024128" y="3657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WER improvement: 0.159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No-space CER improvement: 0.010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016752" y="3154680"/>
            <a:ext cx="495604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36208" y="336499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Интерпретация</a:t>
            </a:r>
            <a:endParaRPr lang="en-US" sz="1120" dirty="0"/>
          </a:p>
        </p:txBody>
      </p:sp>
      <p:sp>
        <p:nvSpPr>
          <p:cNvPr id="31" name="Text 28"/>
          <p:cNvSpPr/>
          <p:nvPr/>
        </p:nvSpPr>
        <p:spPr>
          <a:xfrm>
            <a:off x="6236208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gain частично связан с пробелами, но synthetic effect не только whitespace artifact.</a:t>
            </a:r>
            <a:endParaRPr lang="en-US" sz="1090" dirty="0"/>
          </a:p>
        </p:txBody>
      </p:sp>
      <p:sp>
        <p:nvSpPr>
          <p:cNvPr id="32" name="Shape 29"/>
          <p:cNvSpPr/>
          <p:nvPr/>
        </p:nvSpPr>
        <p:spPr>
          <a:xfrm>
            <a:off x="804672" y="4663440"/>
            <a:ext cx="10168128" cy="603504"/>
          </a:xfrm>
          <a:prstGeom prst="roundRect">
            <a:avLst>
              <a:gd name="adj" fmla="val 12121"/>
            </a:avLst>
          </a:prstGeom>
          <a:solidFill>
            <a:srgbClr val="F8F8FC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05840" y="4882896"/>
            <a:ext cx="6392113" cy="164592"/>
          </a:xfrm>
          <a:prstGeom prst="roundRect">
            <a:avLst>
              <a:gd name="adj" fmla="val 27778"/>
            </a:avLst>
          </a:prstGeom>
          <a:solidFill>
            <a:srgbClr val="13936F"/>
          </a:solidFill>
          <a:ln w="12700">
            <a:solidFill>
              <a:srgbClr val="13936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97953" y="4882896"/>
            <a:ext cx="562356" cy="164592"/>
          </a:xfrm>
          <a:prstGeom prst="roundRect">
            <a:avLst>
              <a:gd name="adj" fmla="val 27778"/>
            </a:avLst>
          </a:prstGeom>
          <a:solidFill>
            <a:srgbClr val="CFCFD9"/>
          </a:solidFill>
          <a:ln w="12700">
            <a:solidFill>
              <a:srgbClr val="CFCFD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960309" y="4882896"/>
            <a:ext cx="543611" cy="164592"/>
          </a:xfrm>
          <a:prstGeom prst="roundRect">
            <a:avLst>
              <a:gd name="adj" fmla="val 27778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823960" y="4736592"/>
            <a:ext cx="868680" cy="256032"/>
          </a:xfrm>
          <a:prstGeom prst="roundRect">
            <a:avLst/>
          </a:prstGeom>
          <a:solidFill>
            <a:srgbClr val="ECFDF5"/>
          </a:solidFill>
          <a:ln>
            <a:solidFill>
              <a:srgbClr val="ECFDF5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39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85.3%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868680" y="565099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Полезность ≠ безопасность: model outputs нужно проверять на худших случаях.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Качественные примеры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кейса: помогла / почти не изменила / ухудшила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713232" y="173736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pic>
        <p:nvPicPr>
          <p:cNvPr id="12" name="Image 1" descr="/mnt/data/page_056_line_band.png">    </p:cNvPr>
          <p:cNvPicPr>
            <a:picLocks noChangeAspect="1"/>
          </p:cNvPicPr>
          <p:nvPr/>
        </p:nvPicPr>
        <p:blipFill>
          <a:blip r:embed="rId2"/>
          <a:srcRect l="0" r="0" t="4212" b="4212"/>
          <a:stretch/>
        </p:blipFill>
        <p:spPr>
          <a:xfrm>
            <a:off x="859536" y="1920240"/>
            <a:ext cx="2404872" cy="8412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285292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 реальной страницы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3657600" y="1719072"/>
            <a:ext cx="7726680" cy="1060704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730752" y="1810512"/>
            <a:ext cx="91440" cy="877824"/>
          </a:xfrm>
          <a:prstGeom prst="roundRect">
            <a:avLst>
              <a:gd name="adj" fmla="val 40000"/>
            </a:avLst>
          </a:prstGeom>
          <a:solidFill>
            <a:srgbClr val="13936F"/>
          </a:solidFill>
          <a:ln w="12700">
            <a:solidFill>
              <a:srgbClr val="13936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77056" y="18653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39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Improved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3877056" y="2066544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OCR: “( بولتاوا ) ... أبالتلرنى احتوا ابدر”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ByT5: “(بولتاوا) ... أبالتلرنى احتوا ابدر”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Clean: “(پولتاوا)، (چەرنيهوف) و(خارقوف) أيالتلريني احتوا ايدر.”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3657600" y="2999232"/>
            <a:ext cx="7726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30752" y="3090672"/>
            <a:ext cx="91440" cy="749808"/>
          </a:xfrm>
          <a:prstGeom prst="roundRect">
            <a:avLst>
              <a:gd name="adj" fmla="val 4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77056" y="314553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Unchanged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3877056" y="336499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оставляет строку почти без изменений. Это безопасно, но не исправляет реальные character-level ошибки.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657600" y="4133088"/>
            <a:ext cx="7726680" cy="932688"/>
          </a:xfrm>
          <a:prstGeom prst="roundRect">
            <a:avLst>
              <a:gd name="adj" fmla="val 7843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30752" y="4224528"/>
            <a:ext cx="91440" cy="749808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877056" y="42793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Worsened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3877056" y="449884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Локальная правка может ухудшить CER: модель меняет похожие фрагменты, но не восстанавливает ключевые буквы.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77824" y="565099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Именно поэтому в работе есть error analysis, а не только одна итоговая таблица.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Real-OCR sanity check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переноса synthetic-trained ByT5 на Tesseract output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768096" y="1591056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1682496"/>
            <a:ext cx="91440" cy="914400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" y="1737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identity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950976" y="1975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0.4508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950976" y="23042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1.0888 / NoSpaceCER 0.4468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971800" y="1591056"/>
            <a:ext cx="1993392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044952" y="1682496"/>
            <a:ext cx="91440" cy="914400"/>
          </a:xfrm>
          <a:prstGeom prst="roundRect">
            <a:avLst>
              <a:gd name="adj" fmla="val 40000"/>
            </a:avLst>
          </a:prstGeom>
          <a:solidFill>
            <a:srgbClr val="4E63FF"/>
          </a:solidFill>
          <a:ln w="12700">
            <a:solidFill>
              <a:srgbClr val="4E63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54680" y="1737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ByT5 on real OCR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154680" y="1975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0.4361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3154680" y="23042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0.9660 / NoSpaceCER 0.4454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5175504" y="1591056"/>
            <a:ext cx="1682496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48656" y="1682496"/>
            <a:ext cx="91440" cy="914400"/>
          </a:xfrm>
          <a:prstGeom prst="roundRect">
            <a:avLst>
              <a:gd name="adj" fmla="val 40000"/>
            </a:avLst>
          </a:prstGeom>
          <a:solidFill>
            <a:srgbClr val="13936F"/>
          </a:solidFill>
          <a:ln w="12700">
            <a:solidFill>
              <a:srgbClr val="13936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58384" y="17373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5358384" y="197510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39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90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358384" y="23042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7059168" y="1591056"/>
            <a:ext cx="168249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2320" y="1682496"/>
            <a:ext cx="91440" cy="914400"/>
          </a:xfrm>
          <a:prstGeom prst="roundRect">
            <a:avLst>
              <a:gd name="adj" fmla="val 4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42048" y="17373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7242048" y="197510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90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7242048" y="23042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8942832" y="1591056"/>
            <a:ext cx="1682496" cy="109728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015984" y="1682496"/>
            <a:ext cx="91440" cy="914400"/>
          </a:xfrm>
          <a:prstGeom prst="roundRect">
            <a:avLst>
              <a:gd name="adj" fmla="val 40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25712" y="173736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Worsened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9125712" y="1975104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90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9125712" y="23042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786384" y="3200400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5840" y="341985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39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доказывает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1005840" y="369417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есть: ByT5 улучшает больше real-OCR строк, чем ухудшает.</a:t>
            </a:r>
            <a:endParaRPr lang="en-US" sz="1090" dirty="0"/>
          </a:p>
        </p:txBody>
      </p:sp>
      <p:sp>
        <p:nvSpPr>
          <p:cNvPr id="39" name="Shape 36"/>
          <p:cNvSpPr/>
          <p:nvPr/>
        </p:nvSpPr>
        <p:spPr>
          <a:xfrm>
            <a:off x="5961888" y="3200400"/>
            <a:ext cx="48280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81344" y="341985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НЕ доказывает</a:t>
            </a:r>
            <a:endParaRPr lang="en-US" sz="1120" dirty="0"/>
          </a:p>
        </p:txBody>
      </p:sp>
      <p:sp>
        <p:nvSpPr>
          <p:cNvPr id="41" name="Text 38"/>
          <p:cNvSpPr/>
          <p:nvPr/>
        </p:nvSpPr>
        <p:spPr>
          <a:xfrm>
            <a:off x="6181344" y="369417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NoSpaceCER почти не меняется: real character-level correction пока ещё слабая.</a:t>
            </a:r>
            <a:endParaRPr lang="en-US" sz="1090" dirty="0"/>
          </a:p>
        </p:txBody>
      </p:sp>
      <p:sp>
        <p:nvSpPr>
          <p:cNvPr id="42" name="Shape 39"/>
          <p:cNvSpPr/>
          <p:nvPr/>
        </p:nvSpPr>
        <p:spPr>
          <a:xfrm>
            <a:off x="9646920" y="452628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8F8FC"/>
          </a:solidFill>
          <a:ln w="10160">
            <a:solidFill>
              <a:srgbClr val="DADDE8"/>
            </a:solidFill>
            <a:prstDash val="solid"/>
          </a:ln>
        </p:spPr>
      </p:sp>
      <p:pic>
        <p:nvPicPr>
          <p:cNvPr id="43" name="Image 1" descr="/mnt/data/page_056_thumb.png">    </p:cNvPr>
          <p:cNvPicPr>
            <a:picLocks noChangeAspect="1"/>
          </p:cNvPicPr>
          <p:nvPr/>
        </p:nvPicPr>
        <p:blipFill>
          <a:blip r:embed="rId2"/>
          <a:srcRect l="0" r="0" t="18958" b="18958"/>
          <a:stretch/>
        </p:blipFill>
        <p:spPr>
          <a:xfrm>
            <a:off x="9720072" y="4590288"/>
            <a:ext cx="804672" cy="80467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877824" y="5650992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нужен verified line-level benchmark и real-error-aware synthetic noise.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64592"/>
            <a:ext cx="1207008" cy="274320"/>
          </a:xfrm>
          <a:prstGeom prst="roundRect">
            <a:avLst/>
          </a:prstGeom>
          <a:solidFill>
            <a:srgbClr val="FF0032"/>
          </a:solidFill>
          <a:ln>
            <a:solidFill>
              <a:srgbClr val="FF003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MTC True Tech</a:t>
            </a:r>
            <a:endParaRPr lang="en-US" sz="740" dirty="0"/>
          </a:p>
        </p:txBody>
      </p:sp>
      <p:sp>
        <p:nvSpPr>
          <p:cNvPr id="3" name="Text 1"/>
          <p:cNvSpPr/>
          <p:nvPr/>
        </p:nvSpPr>
        <p:spPr>
          <a:xfrm>
            <a:off x="1572768" y="164592"/>
            <a:ext cx="228600" cy="2286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DADD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pic>
        <p:nvPicPr>
          <p:cNvPr id="4" name="Image 0" descr="/mnt/data/template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08" y="0"/>
            <a:ext cx="1371600" cy="960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" y="6336792"/>
            <a:ext cx="11448288" cy="0"/>
          </a:xfrm>
          <a:prstGeom prst="line">
            <a:avLst/>
          </a:prstGeom>
          <a:noFill/>
          <a:ln w="10160">
            <a:solidFill>
              <a:srgbClr val="DADD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" y="64008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Arabic-script Turkic OCR post-correction • course paper defense</a:t>
            </a:r>
            <a:endParaRPr lang="en-US" sz="520" dirty="0"/>
          </a:p>
        </p:txBody>
      </p:sp>
      <p:sp>
        <p:nvSpPr>
          <p:cNvPr id="7" name="Text 4"/>
          <p:cNvSpPr/>
          <p:nvPr/>
        </p:nvSpPr>
        <p:spPr>
          <a:xfrm>
            <a:off x="11274552" y="6373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02920" y="868680"/>
            <a:ext cx="146304" cy="512064"/>
          </a:xfrm>
          <a:prstGeom prst="roundRect">
            <a:avLst>
              <a:gd name="adj" fmla="val 25000"/>
            </a:avLst>
          </a:prstGeom>
          <a:solidFill>
            <a:srgbClr val="FF0032"/>
          </a:solidFill>
          <a:ln w="12700">
            <a:solidFill>
              <a:srgbClr val="FF00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84124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 для защиты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49808" y="1252728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pilot benchmark, но ещё не готовая OCR-система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786384" y="1591056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181051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есть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1005840" y="2084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benchmark; baselines; ByT5 лучше identity по CER/WER; robustness/fallback; real-OCR sanity check.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86384" y="3218688"/>
            <a:ext cx="36576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343814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4E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остаётся future work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1005840" y="37124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real benchmark; line crops/PAGE XML/hOCR; несколько OCR engines; real-error-aware synthetic noise.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4791456" y="1627632"/>
            <a:ext cx="5532120" cy="1353312"/>
          </a:xfrm>
          <a:prstGeom prst="roundRect">
            <a:avLst>
              <a:gd name="adj" fmla="val 5405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18470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фраза</a:t>
            </a:r>
            <a:endParaRPr lang="en-US" sz="1160" dirty="0"/>
          </a:p>
        </p:txBody>
      </p:sp>
      <p:sp>
        <p:nvSpPr>
          <p:cNvPr id="19" name="Text 16"/>
          <p:cNvSpPr/>
          <p:nvPr/>
        </p:nvSpPr>
        <p:spPr>
          <a:xfrm>
            <a:off x="5047488" y="21305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“Это не OCR-система с картинки, а проверенный слой post-correction и основа для будущего OCR/HTR benchmark.”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754880" y="4626864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47823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scans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614416" y="4855464"/>
            <a:ext cx="13716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779008" y="4626864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24728" y="47823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OCR/HTR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6638544" y="4855464"/>
            <a:ext cx="13716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803136" y="4626864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0F3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48856" y="47823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00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post-correction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662672" y="4855464"/>
            <a:ext cx="13716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827264" y="4626864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72984" y="47823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8686800" y="4855464"/>
            <a:ext cx="13716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851392" y="4626864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97112" y="47823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linkage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9710928" y="4855464"/>
            <a:ext cx="137160" cy="0"/>
          </a:xfrm>
          <a:prstGeom prst="line">
            <a:avLst/>
          </a:prstGeom>
          <a:noFill/>
          <a:ln w="1778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9875520" y="4626864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>
            <a:solidFill>
              <a:srgbClr val="DADD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921240" y="478231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</a:t>
            </a:r>
            <a:endParaRPr lang="en-US" sz="780" dirty="0"/>
          </a:p>
        </p:txBody>
      </p:sp>
      <p:pic>
        <p:nvPicPr>
          <p:cNvPr id="37" name="Image 1" descr="/mnt/data/template_media/image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364992"/>
            <a:ext cx="868680" cy="62179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736592" y="565099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работы: воспроизводимый pilot benchmark, baselines, real-OCR sanity и честные ограничения.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 post-correction of Arabic-script Turkic text</dc:title>
  <dc:subject>OCR post-correction defense deck</dc:subject>
  <dc:creator>OpenAI</dc:creator>
  <cp:lastModifiedBy>OpenAI</cp:lastModifiedBy>
  <cp:revision>1</cp:revision>
  <dcterms:created xsi:type="dcterms:W3CDTF">2026-06-23T00:11:01Z</dcterms:created>
  <dcterms:modified xsi:type="dcterms:W3CDTF">2026-06-23T00:11:01Z</dcterms:modified>
</cp:coreProperties>
</file>