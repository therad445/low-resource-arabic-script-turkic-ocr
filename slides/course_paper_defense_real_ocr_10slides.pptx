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685800"/>
            <a:ext cx="3749039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051560"/>
            <a:ext cx="3108960" cy="164592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>
                <a:solidFill>
                  <a:srgbClr val="192233"/>
                </a:solidFill>
                <a:latin typeface="Arial"/>
              </a:rPr>
              <a:t>OCR POST-
CORRECTION
ДЛЯ ИСТОРИЧЕСКИХ
ТЮРКСКИХ ТЕКСТОВ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578608"/>
            <a:ext cx="2560320" cy="32004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400" b="0">
                <a:solidFill>
                  <a:srgbClr val="626B7E"/>
                </a:solidFill>
                <a:latin typeface="Arial"/>
              </a:rPr>
              <a:t>в арабской графике</a:t>
            </a:r>
          </a:p>
        </p:txBody>
      </p:sp>
      <p:pic>
        <p:nvPicPr>
          <p:cNvPr id="8" name="Picture 7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188719"/>
            <a:ext cx="7198688" cy="4799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1" y="3838907"/>
            <a:ext cx="1475430" cy="246221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 dirty="0" err="1">
                <a:solidFill>
                  <a:srgbClr val="FF003C"/>
                </a:solidFill>
                <a:latin typeface="Arial"/>
              </a:rPr>
              <a:t>Главная</a:t>
            </a:r>
            <a:r>
              <a:rPr sz="1100" b="1" dirty="0">
                <a:solidFill>
                  <a:srgbClr val="FF003C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FF003C"/>
                </a:solidFill>
                <a:latin typeface="Arial"/>
              </a:rPr>
              <a:t>мысль</a:t>
            </a:r>
            <a:endParaRPr sz="1100" b="1" dirty="0">
              <a:solidFill>
                <a:srgbClr val="FF003C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8912" y="4096512"/>
            <a:ext cx="5394960" cy="59436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800" b="1">
                <a:solidFill>
                  <a:srgbClr val="192233"/>
                </a:solidFill>
                <a:latin typeface="Arial"/>
              </a:rPr>
              <a:t>Синтетика учит модель исправлять «похожий» шум,
но настоящий OCR ломается иначе.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201856"/>
            <a:ext cx="1234440" cy="201168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 dirty="0">
                <a:solidFill>
                  <a:srgbClr val="FFFFFF"/>
                </a:solidFill>
                <a:latin typeface="Arial"/>
              </a:rPr>
              <a:t>post-correction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1952" y="5201856"/>
            <a:ext cx="960120" cy="201168"/>
          </a:xfrm>
          <a:prstGeom prst="roundRect">
            <a:avLst/>
          </a:prstGeom>
          <a:solidFill>
            <a:srgbClr val="406CE5"/>
          </a:solidFill>
          <a:ln>
            <a:solidFill>
              <a:srgbClr val="40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ByT5-small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5201856"/>
            <a:ext cx="1417320" cy="201168"/>
          </a:xfrm>
          <a:prstGeom prst="round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real-OCR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50992"/>
            <a:ext cx="3200400" cy="228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Радмир Исламов · НИУ ВШЭ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Ключевая рамка: это не готовая OCR-система, а проверяемый слой после распознавания.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8321630" cy="415498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>
                <a:solidFill>
                  <a:srgbClr val="192233"/>
                </a:solidFill>
                <a:latin typeface="Arial"/>
              </a:rPr>
              <a:t>Постановка: не «просто OCR», а post-correction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23137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 dirty="0" err="1">
                <a:solidFill>
                  <a:srgbClr val="626B7E"/>
                </a:solidFill>
                <a:latin typeface="Arial"/>
              </a:rPr>
              <a:t>Вход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—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ошибочный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OCR-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текст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;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выход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—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текст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ближе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к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проверенной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транскрипции</a:t>
            </a:r>
            <a:endParaRPr sz="1100" b="0" dirty="0">
              <a:solidFill>
                <a:srgbClr val="626B7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932688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92233"/>
                </a:solidFill>
                <a:latin typeface="Arial"/>
              </a:rPr>
              <a:t>image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64208" y="229514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65376" y="2011680"/>
            <a:ext cx="932688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92233"/>
                </a:solidFill>
                <a:latin typeface="Arial"/>
              </a:rPr>
              <a:t>OCR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98064" y="229514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99232" y="2011680"/>
            <a:ext cx="932688" cy="566928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92233"/>
                </a:solidFill>
                <a:latin typeface="Arial"/>
              </a:rPr>
              <a:t>noisy
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229514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33087" y="2011680"/>
            <a:ext cx="932688" cy="566928"/>
          </a:xfrm>
          <a:prstGeom prst="roundRect">
            <a:avLst/>
          </a:prstGeom>
          <a:solidFill>
            <a:srgbClr val="CEF8E4"/>
          </a:solidFill>
          <a:ln>
            <a:solidFill>
              <a:srgbClr val="CEF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post-
correction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65775" y="229514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66944" y="2011680"/>
            <a:ext cx="932688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corrected
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99631" y="229514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0" y="2011680"/>
            <a:ext cx="932688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search /
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456432"/>
            <a:ext cx="48463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3600" y="3583432"/>
            <a:ext cx="449072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Фокус работы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600" y="3812032"/>
            <a:ext cx="4490720" cy="736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Не обучаем OCR с нуля. Проверяем, можно ли улучшать уже полученный OCR/OCR-like текст.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3456432"/>
            <a:ext cx="4069080" cy="1143000"/>
          </a:xfrm>
          <a:prstGeom prst="roundRect">
            <a:avLst/>
          </a:prstGeom>
          <a:solidFill>
            <a:srgbClr val="FDF2CC"/>
          </a:solidFill>
          <a:ln>
            <a:solidFill>
              <a:srgbClr val="FDF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84240" y="3583432"/>
            <a:ext cx="37134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A36E00"/>
                </a:solidFill>
                <a:latin typeface="Arial"/>
              </a:rPr>
              <a:t>Домен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4240" y="3812032"/>
            <a:ext cx="3713480" cy="736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Исторические тюркские тексты в арабо-персидской графике; текущий real-OCR источник — османско-турецкий печатный текст.</a:t>
            </a:r>
          </a:p>
        </p:txBody>
      </p:sp>
      <p:pic>
        <p:nvPicPr>
          <p:cNvPr id="26" name="Picture 2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585" y="4955900"/>
            <a:ext cx="3711415" cy="19021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Старотатарские и старобашкирские материалы — мотивация и будущий целевой домен.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6492240" cy="685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 dirty="0" err="1">
                <a:solidFill>
                  <a:srgbClr val="192233"/>
                </a:solidFill>
                <a:latin typeface="Arial"/>
              </a:rPr>
              <a:t>Почему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задача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сложная</a:t>
            </a:r>
            <a:endParaRPr sz="2200" b="1" dirty="0">
              <a:solidFill>
                <a:srgbClr val="1922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8912" y="1150768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 dirty="0" err="1">
                <a:solidFill>
                  <a:srgbClr val="626B7E"/>
                </a:solidFill>
                <a:latin typeface="Arial"/>
              </a:rPr>
              <a:t>Арабская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графика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+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историческая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орфография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+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малые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открытые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корпуса</a:t>
            </a:r>
            <a:endParaRPr sz="1100" b="0" dirty="0">
              <a:solidFill>
                <a:srgbClr val="626B7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3232" y="2138809"/>
            <a:ext cx="2331720" cy="1152832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2248537"/>
            <a:ext cx="27432" cy="634058"/>
          </a:xfrm>
          <a:prstGeom prst="rect">
            <a:avLst/>
          </a:prstGeom>
          <a:solidFill>
            <a:srgbClr val="406CE5"/>
          </a:solidFill>
          <a:ln>
            <a:solidFill>
              <a:srgbClr val="40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2239393"/>
            <a:ext cx="914400" cy="457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92233"/>
                </a:solidFill>
                <a:latin typeface="Arial"/>
              </a:rPr>
              <a:t>Арабская
графика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230249"/>
            <a:ext cx="1078992" cy="692497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позиционные формы, точки, похожие начертания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18104" y="2138809"/>
            <a:ext cx="2670048" cy="1152832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95285" y="2248537"/>
            <a:ext cx="27432" cy="63405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55264" y="2239393"/>
            <a:ext cx="1280160" cy="44627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 dirty="0" err="1">
                <a:solidFill>
                  <a:srgbClr val="192233"/>
                </a:solidFill>
                <a:latin typeface="Arial"/>
              </a:rPr>
              <a:t>Историческая</a:t>
            </a:r>
            <a:r>
              <a:rPr sz="1200" b="1" dirty="0">
                <a:solidFill>
                  <a:srgbClr val="192233"/>
                </a:solidFill>
                <a:latin typeface="Arial"/>
              </a:rPr>
              <a:t>
</a:t>
            </a:r>
            <a:r>
              <a:rPr sz="1200" b="1" dirty="0" err="1">
                <a:solidFill>
                  <a:srgbClr val="192233"/>
                </a:solidFill>
                <a:latin typeface="Arial"/>
              </a:rPr>
              <a:t>орфография</a:t>
            </a:r>
            <a:endParaRPr sz="1200" b="1" dirty="0">
              <a:solidFill>
                <a:srgbClr val="192233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07992" y="2230249"/>
            <a:ext cx="1078992" cy="538609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вариативность нельзя грубо нормализовать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138809"/>
            <a:ext cx="2331720" cy="1152832"/>
          </a:xfrm>
          <a:prstGeom prst="roundRect">
            <a:avLst/>
          </a:prstGeom>
          <a:solidFill>
            <a:srgbClr val="EBE6FC"/>
          </a:solidFill>
          <a:ln>
            <a:solidFill>
              <a:srgbClr val="EBE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2784" y="2248537"/>
            <a:ext cx="27432" cy="634058"/>
          </a:xfrm>
          <a:prstGeom prst="rect">
            <a:avLst/>
          </a:prstGeom>
          <a:solidFill>
            <a:srgbClr val="7656D3"/>
          </a:solidFill>
          <a:ln>
            <a:solidFill>
              <a:srgbClr val="765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64224" y="2239393"/>
            <a:ext cx="914400" cy="457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92233"/>
                </a:solidFill>
                <a:latin typeface="Arial"/>
              </a:rPr>
              <a:t>Мало
данных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230249"/>
            <a:ext cx="1078992" cy="1000274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нет большого готового benchmark именно для этой постановки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2832" y="2138809"/>
            <a:ext cx="2331720" cy="1152832"/>
          </a:xfrm>
          <a:prstGeom prst="roundRect">
            <a:avLst/>
          </a:prstGeom>
          <a:solidFill>
            <a:srgbClr val="CEF8E4"/>
          </a:solidFill>
          <a:ln>
            <a:solidFill>
              <a:srgbClr val="CEF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15984" y="2248537"/>
            <a:ext cx="27432" cy="634058"/>
          </a:xfrm>
          <a:prstGeom prst="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07424" y="2239393"/>
            <a:ext cx="914400" cy="457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92233"/>
                </a:solidFill>
                <a:latin typeface="Arial"/>
              </a:rPr>
              <a:t>Метрики
неполны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92" y="2230249"/>
            <a:ext cx="1078992" cy="84638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CER/WER нужны, но не заменяют ручную проверку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" y="3720721"/>
            <a:ext cx="42976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8464" y="3847721"/>
            <a:ext cx="3942080" cy="246221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Что нельзя делать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464" y="4076321"/>
            <a:ext cx="3942080" cy="44627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«Почистить всё правилами» — можно стереть исторически значимые варианты.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5272" y="3720721"/>
            <a:ext cx="42976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83072" y="3847721"/>
            <a:ext cx="3942080" cy="246221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FB57C"/>
                </a:solidFill>
                <a:latin typeface="Arial"/>
              </a:rPr>
              <a:t>Что делаем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83072" y="4076321"/>
            <a:ext cx="3942080" cy="44627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Узкий воспроизводимый pilot: noisy/OCR text → clean text.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70064" y="5085580"/>
            <a:ext cx="2651760" cy="1370371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47864" y="5212581"/>
            <a:ext cx="2296160" cy="246221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 dirty="0" err="1">
                <a:solidFill>
                  <a:srgbClr val="FF003C"/>
                </a:solidFill>
                <a:latin typeface="Arial"/>
              </a:rPr>
              <a:t>Главный</a:t>
            </a:r>
            <a:r>
              <a:rPr sz="1100" b="1" dirty="0">
                <a:solidFill>
                  <a:srgbClr val="FF003C"/>
                </a:solidFill>
                <a:latin typeface="Arial"/>
              </a:rPr>
              <a:t> </a:t>
            </a:r>
            <a:r>
              <a:rPr sz="1100" b="1" dirty="0" err="1">
                <a:solidFill>
                  <a:srgbClr val="FF003C"/>
                </a:solidFill>
                <a:latin typeface="Arial"/>
              </a:rPr>
              <a:t>риск</a:t>
            </a:r>
            <a:endParaRPr sz="1100" b="1" dirty="0">
              <a:solidFill>
                <a:srgbClr val="FF003C"/>
              </a:solidFill>
              <a:latin typeface="Arial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547864" y="5441181"/>
            <a:ext cx="2296160" cy="815608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 dirty="0" err="1">
                <a:solidFill>
                  <a:srgbClr val="192233"/>
                </a:solidFill>
                <a:latin typeface="Arial"/>
              </a:rPr>
              <a:t>модель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выглядит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успешной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на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synthetic benchmark,
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но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не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переносится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на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92233"/>
                </a:solidFill>
                <a:latin typeface="Arial"/>
              </a:rPr>
              <a:t>настоящий</a:t>
            </a:r>
            <a:r>
              <a:rPr sz="1200" b="0" dirty="0">
                <a:solidFill>
                  <a:srgbClr val="192233"/>
                </a:solidFill>
                <a:latin typeface="Arial"/>
              </a:rPr>
              <a:t> OCR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Стратегия: честный pilot study вместо обещания «полной OCR-системы».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4002291"/>
            <a:ext cx="8817657" cy="2855709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6492240" cy="685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>
                <a:solidFill>
                  <a:srgbClr val="192233"/>
                </a:solidFill>
                <a:latin typeface="Arial"/>
              </a:rPr>
              <a:t>Synthetic benchmark: контролируемый пилот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70432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Модель учится на парах noisy → clean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755648"/>
            <a:ext cx="987552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clean
corpus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10512" y="2020824"/>
            <a:ext cx="29260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03120" y="1755648"/>
            <a:ext cx="987552" cy="530352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synthetic
noise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90672" y="2020824"/>
            <a:ext cx="29260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83280" y="1755648"/>
            <a:ext cx="987552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noisy
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70832" y="2020824"/>
            <a:ext cx="29260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663440" y="1755648"/>
            <a:ext cx="987552" cy="530352"/>
          </a:xfrm>
          <a:prstGeom prst="roundRect">
            <a:avLst/>
          </a:prstGeom>
          <a:solidFill>
            <a:srgbClr val="CEF8E4"/>
          </a:solidFill>
          <a:ln>
            <a:solidFill>
              <a:srgbClr val="CEF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ByT5 /
baselines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50992" y="2020824"/>
            <a:ext cx="29260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43600" y="1755648"/>
            <a:ext cx="987552" cy="530352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metrics
+ errors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799" y="2834639"/>
            <a:ext cx="1868621" cy="1265411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2000" y="2910839"/>
            <a:ext cx="60356" cy="1054509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8999" y="2961640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corpus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999" y="3164840"/>
            <a:ext cx="1506485" cy="44627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>
                <a:solidFill>
                  <a:srgbClr val="FF003C"/>
                </a:solidFill>
                <a:latin typeface="Arial"/>
              </a:rP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99" y="3650719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clean unique lines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26686" y="2834639"/>
            <a:ext cx="1868621" cy="1265411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887" y="2910839"/>
            <a:ext cx="60356" cy="1054509"/>
          </a:xfrm>
          <a:prstGeom prst="rect">
            <a:avLst/>
          </a:prstGeom>
          <a:solidFill>
            <a:srgbClr val="406CE5"/>
          </a:solidFill>
          <a:ln>
            <a:solidFill>
              <a:srgbClr val="40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29886" y="2961640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split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29886" y="3164840"/>
            <a:ext cx="1506485" cy="44627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>
                <a:solidFill>
                  <a:srgbClr val="406CE5"/>
                </a:solidFill>
                <a:latin typeface="Arial"/>
              </a:rPr>
              <a:t>320/40/40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9886" y="3591725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 dirty="0">
                <a:solidFill>
                  <a:srgbClr val="626B7E"/>
                </a:solidFill>
                <a:latin typeface="Arial"/>
              </a:rPr>
              <a:t>train / </a:t>
            </a:r>
            <a:r>
              <a:rPr sz="1000" b="0" dirty="0" err="1">
                <a:solidFill>
                  <a:srgbClr val="626B7E"/>
                </a:solidFill>
                <a:latin typeface="Arial"/>
              </a:rPr>
              <a:t>val</a:t>
            </a:r>
            <a:r>
              <a:rPr sz="1000" b="0" dirty="0">
                <a:solidFill>
                  <a:srgbClr val="626B7E"/>
                </a:solidFill>
                <a:latin typeface="Arial"/>
              </a:rPr>
              <a:t> / test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68754" y="2834639"/>
            <a:ext cx="1868621" cy="1265411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644955" y="2910839"/>
            <a:ext cx="60356" cy="1054509"/>
          </a:xfrm>
          <a:prstGeom prst="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71954" y="2961640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pairs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71954" y="3164840"/>
            <a:ext cx="1506485" cy="44627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>
                <a:solidFill>
                  <a:srgbClr val="1FB57C"/>
                </a:solidFill>
                <a:latin typeface="Arial"/>
              </a:rPr>
              <a:t>8000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1954" y="3562228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 dirty="0">
                <a:solidFill>
                  <a:srgbClr val="626B7E"/>
                </a:solidFill>
                <a:latin typeface="Arial"/>
              </a:rPr>
              <a:t>noisy-clean pairs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10822" y="2842015"/>
            <a:ext cx="1868621" cy="1265411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7023" y="2918215"/>
            <a:ext cx="60356" cy="1054509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14022" y="2969016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14022" y="3172216"/>
            <a:ext cx="1506485" cy="44627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 dirty="0">
                <a:solidFill>
                  <a:srgbClr val="FF003C"/>
                </a:solidFill>
                <a:latin typeface="Arial"/>
              </a:rPr>
              <a:t>ByT5-512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14022" y="3618766"/>
            <a:ext cx="1506485" cy="230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 dirty="0">
                <a:solidFill>
                  <a:srgbClr val="626B7E"/>
                </a:solidFill>
                <a:latin typeface="Arial"/>
              </a:rPr>
              <a:t>best model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70240" y="1477235"/>
            <a:ext cx="30175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48040" y="1604235"/>
            <a:ext cx="266192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92233"/>
                </a:solidFill>
                <a:latin typeface="Arial"/>
              </a:rPr>
              <a:t>Инженерная деталь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8040" y="1832835"/>
            <a:ext cx="2661920" cy="690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Split сделан по clean lines: варианты одной строки не попадают в разные split-ы.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Synthetic benchmark нужен как controlled environment, а не как доказательство готовности к архивным сканам.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1" y="594360"/>
            <a:ext cx="8508443" cy="415498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 dirty="0">
                <a:solidFill>
                  <a:srgbClr val="192233"/>
                </a:solidFill>
                <a:latin typeface="Arial"/>
              </a:rPr>
              <a:t>Synthetic results: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модель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работает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,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но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не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идеально</a:t>
            </a:r>
            <a:endParaRPr sz="2200" b="1" dirty="0">
              <a:solidFill>
                <a:srgbClr val="1922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48535" y="1070738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 dirty="0" err="1">
                <a:solidFill>
                  <a:srgbClr val="626B7E"/>
                </a:solidFill>
                <a:latin typeface="Arial"/>
              </a:rPr>
              <a:t>На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синтетике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ByT5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снижает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WER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заметнее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, </a:t>
            </a:r>
            <a:r>
              <a:rPr sz="1100" b="0" dirty="0" err="1">
                <a:solidFill>
                  <a:srgbClr val="626B7E"/>
                </a:solidFill>
                <a:latin typeface="Arial"/>
              </a:rPr>
              <a:t>чем</a:t>
            </a:r>
            <a:r>
              <a:rPr sz="1100" b="0" dirty="0">
                <a:solidFill>
                  <a:srgbClr val="626B7E"/>
                </a:solidFill>
                <a:latin typeface="Arial"/>
              </a:rPr>
              <a:t> CER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72464"/>
            <a:ext cx="16002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" y="1799464"/>
            <a:ext cx="12446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Identity 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2002664"/>
            <a:ext cx="124460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300" b="1">
                <a:solidFill>
                  <a:srgbClr val="FF003C"/>
                </a:solidFill>
                <a:latin typeface="Arial"/>
              </a:rPr>
              <a:t>0.086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1672464"/>
            <a:ext cx="1600200" cy="868680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6680" y="1799464"/>
            <a:ext cx="12446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ByT5 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6680" y="2002664"/>
            <a:ext cx="124460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300" b="1">
                <a:solidFill>
                  <a:srgbClr val="FF003C"/>
                </a:solidFill>
                <a:latin typeface="Arial"/>
              </a:rPr>
              <a:t>0.080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672464"/>
            <a:ext cx="16002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2640" y="1799464"/>
            <a:ext cx="12446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Identity 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40" y="2002664"/>
            <a:ext cx="124460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300" b="1">
                <a:solidFill>
                  <a:srgbClr val="406CE5"/>
                </a:solidFill>
                <a:latin typeface="Arial"/>
              </a:rPr>
              <a:t>0.519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72464"/>
            <a:ext cx="1600200" cy="868680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5720" y="1799464"/>
            <a:ext cx="12446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ByT5 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720" y="2002664"/>
            <a:ext cx="124460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300" b="1">
                <a:solidFill>
                  <a:srgbClr val="406CE5"/>
                </a:solidFill>
                <a:latin typeface="Arial"/>
              </a:rPr>
              <a:t>0.369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672464"/>
            <a:ext cx="1234440" cy="868680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07400" y="1799464"/>
            <a:ext cx="8788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Rule-based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7400" y="2002664"/>
            <a:ext cx="87884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000" b="1">
                <a:solidFill>
                  <a:srgbClr val="FF003C"/>
                </a:solidFill>
                <a:latin typeface="Arial"/>
              </a:rPr>
              <a:t>хуже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672463"/>
            <a:ext cx="1920240" cy="1564099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24720" y="1799464"/>
            <a:ext cx="15646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Интерпретация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4720" y="2028064"/>
            <a:ext cx="1564640" cy="4622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CER улучшается умеренно. WER падает сильнее, потому что synthetic noise включает пробелы.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462623"/>
            <a:ext cx="531876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9000" y="3564223"/>
            <a:ext cx="4668520" cy="228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92233"/>
                </a:solidFill>
                <a:latin typeface="Arial"/>
              </a:rPr>
              <a:t>CER 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000" y="38690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Identity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33600" y="38944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133600" y="3894423"/>
            <a:ext cx="1758442" cy="101600"/>
          </a:xfrm>
          <a:prstGeom prst="roundRect">
            <a:avLst/>
          </a:prstGeom>
          <a:solidFill>
            <a:srgbClr val="141C28"/>
          </a:solidFill>
          <a:ln>
            <a:solidFill>
              <a:srgbClr val="141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1320" y="38309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0.086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" y="41738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Rules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33600" y="41992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133600" y="4199223"/>
            <a:ext cx="3107944" cy="101600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1320" y="41357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0.152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000" y="44786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Char conf.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33600" y="45040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133600" y="4504023"/>
            <a:ext cx="1697101" cy="101600"/>
          </a:xfrm>
          <a:prstGeom prst="roundRect">
            <a:avLst/>
          </a:prstGeom>
          <a:solidFill>
            <a:srgbClr val="406CE5"/>
          </a:solidFill>
          <a:ln>
            <a:solidFill>
              <a:srgbClr val="40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1320" y="44405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0.083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000" y="47834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ByT5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33600" y="48088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2133600" y="4808823"/>
            <a:ext cx="1635760" cy="101600"/>
          </a:xfrm>
          <a:prstGeom prst="round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81320" y="47453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0.080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9000" y="5174583"/>
            <a:ext cx="4668520" cy="177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Чем ниже, тем лучше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80760" y="3462623"/>
            <a:ext cx="54254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83960" y="3564223"/>
            <a:ext cx="4668520" cy="228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92233"/>
                </a:solidFill>
                <a:latin typeface="Arial"/>
              </a:rPr>
              <a:t>WER 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3960" y="38690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Identity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28560" y="38944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7528560" y="3894423"/>
            <a:ext cx="2358220" cy="101600"/>
          </a:xfrm>
          <a:prstGeom prst="roundRect">
            <a:avLst/>
          </a:prstGeom>
          <a:solidFill>
            <a:srgbClr val="141C28"/>
          </a:solidFill>
          <a:ln>
            <a:solidFill>
              <a:srgbClr val="141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876280" y="38309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0.519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3960" y="41738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28560" y="41992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7528560" y="4199223"/>
            <a:ext cx="3107944" cy="101600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876280" y="41357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0.684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83960" y="44786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Char conf.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28560" y="45040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7528560" y="4504023"/>
            <a:ext cx="2299151" cy="101600"/>
          </a:xfrm>
          <a:prstGeom prst="roundRect">
            <a:avLst/>
          </a:prstGeom>
          <a:solidFill>
            <a:srgbClr val="406CE5"/>
          </a:solidFill>
          <a:ln>
            <a:solidFill>
              <a:srgbClr val="40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876280" y="44405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0.506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3960" y="4783423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ByT5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28560" y="4808823"/>
            <a:ext cx="327152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7528560" y="4808823"/>
            <a:ext cx="1676654" cy="101600"/>
          </a:xfrm>
          <a:prstGeom prst="round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76280" y="4745323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0.369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83960" y="5174583"/>
            <a:ext cx="4668520" cy="177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Чем ниже, тем лучше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Вывод: подход перспективен в synthetic-среде, но требует проверки на real OCR.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6492240" cy="685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>
                <a:solidFill>
                  <a:srgbClr val="192233"/>
                </a:solidFill>
                <a:latin typeface="Arial"/>
              </a:rPr>
              <a:t>Real-OCR benchmark: что добавили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70432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Османско-турецкий источник как доступный Arabic-script Turkic test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816158"/>
            <a:ext cx="1280160" cy="1123827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447800" y="1892358"/>
            <a:ext cx="50800" cy="936523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74800" y="1943159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pages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4800" y="2146359"/>
            <a:ext cx="97536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>
                <a:solidFill>
                  <a:srgbClr val="FF003C"/>
                </a:solidFill>
                <a:latin typeface="Arial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4800" y="2465087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rendered pages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816158"/>
            <a:ext cx="1280160" cy="1123827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19400" y="1892358"/>
            <a:ext cx="50800" cy="936523"/>
          </a:xfrm>
          <a:prstGeom prst="rect">
            <a:avLst/>
          </a:prstGeom>
          <a:solidFill>
            <a:srgbClr val="406CE5"/>
          </a:solidFill>
          <a:ln>
            <a:solidFill>
              <a:srgbClr val="40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46400" y="1943159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eval pages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6400" y="2146359"/>
            <a:ext cx="97536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>
                <a:solidFill>
                  <a:srgbClr val="406CE5"/>
                </a:solidFill>
                <a:latin typeface="Arial"/>
              </a:rPr>
              <a:t>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6400" y="2465087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filtered subset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1816158"/>
            <a:ext cx="1280160" cy="1123827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91000" y="1892358"/>
            <a:ext cx="50800" cy="936523"/>
          </a:xfrm>
          <a:prstGeom prst="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18000" y="1943159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clean chars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8000" y="2146359"/>
            <a:ext cx="97536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>
                <a:solidFill>
                  <a:srgbClr val="1FB57C"/>
                </a:solidFill>
                <a:latin typeface="Arial"/>
              </a:rPr>
              <a:t>90k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000" y="2465087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reference text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1816158"/>
            <a:ext cx="1280160" cy="1123827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62600" y="1892358"/>
            <a:ext cx="50800" cy="936523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89600" y="1943159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OCR chars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9600" y="2146359"/>
            <a:ext cx="97536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400" b="1">
                <a:solidFill>
                  <a:srgbClr val="FF003C"/>
                </a:solidFill>
                <a:latin typeface="Arial"/>
              </a:rPr>
              <a:t>82k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89600" y="2465087"/>
            <a:ext cx="97536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626B7E"/>
                </a:solidFill>
                <a:latin typeface="Arial"/>
              </a:rPr>
              <a:t>Tesseract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92227" y="3398520"/>
            <a:ext cx="4297680" cy="1051560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470027" y="3525520"/>
            <a:ext cx="39420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Что это НЕ есть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70027" y="3754120"/>
            <a:ext cx="3942080" cy="64516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Это не старотатарский и не старобашкирский датасет. Источник используется как связанный Arabic-script Turkic test case.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75840" y="4954524"/>
            <a:ext cx="43891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53640" y="5081524"/>
            <a:ext cx="403352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92233"/>
                </a:solidFill>
                <a:latin typeface="Arial"/>
              </a:rPr>
              <a:t>Что хранится в репозитории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10124"/>
            <a:ext cx="4033520" cy="64516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Скрипты и агрегированные summary-таблицы. PDF, page images, OCR outputs, gold text и predictions остаются локально.</a:t>
            </a:r>
          </a:p>
        </p:txBody>
      </p:sp>
      <p:pic>
        <p:nvPicPr>
          <p:cNvPr id="35" name="Picture 34" descr="image-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9265" y="1207008"/>
            <a:ext cx="2814975" cy="4503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Главный смысл: проверка переноса synthetic-trained ByT5 на настоящий page-level OCR.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6492240" cy="685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>
                <a:solidFill>
                  <a:srgbClr val="192233"/>
                </a:solidFill>
                <a:latin typeface="Arial"/>
              </a:rPr>
              <a:t>Real transfer: CER ухудшается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70432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Synthetic-trained ByT5 не переносится надёжно на full-page OCR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645920"/>
            <a:ext cx="5311877" cy="2788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9000" y="1747520"/>
            <a:ext cx="4394200" cy="228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92233"/>
                </a:solidFill>
                <a:latin typeface="Arial"/>
              </a:rPr>
              <a:t>Mean CER 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2052320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Raw Tesseract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33600" y="2077720"/>
            <a:ext cx="299720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133600" y="2077720"/>
            <a:ext cx="2122017" cy="101600"/>
          </a:xfrm>
          <a:prstGeom prst="round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07000" y="2014220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0.354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357120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ByT5 chunked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3600" y="2382520"/>
            <a:ext cx="299720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133600" y="2382520"/>
            <a:ext cx="2733446" cy="101600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07000" y="2319020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0.456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2661920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Strict guard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3600" y="2687320"/>
            <a:ext cx="299720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133600" y="2687320"/>
            <a:ext cx="2295855" cy="101600"/>
          </a:xfrm>
          <a:prstGeom prst="roundRect">
            <a:avLst/>
          </a:prstGeom>
          <a:solidFill>
            <a:srgbClr val="E1AA2D"/>
          </a:solidFill>
          <a:ln>
            <a:solidFill>
              <a:srgbClr val="E1A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07000" y="2623820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0.383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4180840"/>
            <a:ext cx="4394200" cy="177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Чем ниже, тем лучше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9668" y="1737360"/>
            <a:ext cx="3611880" cy="777240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67468" y="1864360"/>
            <a:ext cx="32562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ByT5: 0.3539 → 0.4564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468" y="2092960"/>
            <a:ext cx="3256280" cy="37084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CER растёт, значит символный слой ухудшается.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89668" y="2743200"/>
            <a:ext cx="36118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67468" y="2870200"/>
            <a:ext cx="32562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92233"/>
                </a:solidFill>
                <a:latin typeface="Arial"/>
              </a:rPr>
              <a:t>Strict guard: 0.3828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468" y="3098800"/>
            <a:ext cx="3256280" cy="37084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безопаснее, но всё ещё хуже raw OCR.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89668" y="3749039"/>
            <a:ext cx="36118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67468" y="3876039"/>
            <a:ext cx="32562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92233"/>
                </a:solidFill>
                <a:latin typeface="Arial"/>
              </a:rPr>
              <a:t>Character-level ошибка критична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468" y="4104639"/>
            <a:ext cx="3256280" cy="37084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Для арабографичного OCR CER важнее красивой word-level картинки.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Это главный отрицательный результат: модель нельзя выдавать за практический корректор.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7301140" cy="415498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 dirty="0">
                <a:solidFill>
                  <a:srgbClr val="192233"/>
                </a:solidFill>
                <a:latin typeface="Arial"/>
              </a:rPr>
              <a:t>Real transfer: WER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слегка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лучше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,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но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это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не</a:t>
            </a:r>
            <a:r>
              <a:rPr sz="2200" b="1" dirty="0">
                <a:solidFill>
                  <a:srgbClr val="192233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233"/>
                </a:solidFill>
                <a:latin typeface="Arial"/>
              </a:rPr>
              <a:t>спасает</a:t>
            </a:r>
            <a:endParaRPr sz="2200" b="1" dirty="0">
              <a:solidFill>
                <a:srgbClr val="1922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8912" y="1170432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Word-level улучшение не равно надёжной OCR-коррекции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645920"/>
            <a:ext cx="5056239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9000" y="1747520"/>
            <a:ext cx="4119880" cy="228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92233"/>
                </a:solidFill>
                <a:latin typeface="Arial"/>
              </a:rPr>
              <a:t>Mean WER 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2052320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Raw Tesseract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33600" y="2077720"/>
            <a:ext cx="272288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133600" y="2077720"/>
            <a:ext cx="2515941" cy="101600"/>
          </a:xfrm>
          <a:prstGeom prst="roundRect">
            <a:avLst/>
          </a:prstGeom>
          <a:solidFill>
            <a:srgbClr val="141C28"/>
          </a:solidFill>
          <a:ln>
            <a:solidFill>
              <a:srgbClr val="141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2680" y="2014220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0.924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357120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ByT5 chunked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3600" y="2382520"/>
            <a:ext cx="272288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133600" y="2382520"/>
            <a:ext cx="2428808" cy="101600"/>
          </a:xfrm>
          <a:prstGeom prst="roundRect">
            <a:avLst/>
          </a:prstGeom>
          <a:solidFill>
            <a:srgbClr val="1FB57C"/>
          </a:solidFill>
          <a:ln>
            <a:solidFill>
              <a:srgbClr val="1FB5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2680" y="2319020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0.892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2661920"/>
            <a:ext cx="11430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Strict guard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3600" y="2687320"/>
            <a:ext cx="2722880" cy="101600"/>
          </a:xfrm>
          <a:prstGeom prst="roundRect">
            <a:avLst/>
          </a:prstGeom>
          <a:solidFill>
            <a:srgbClr val="E6E9EF"/>
          </a:solidFill>
          <a:ln>
            <a:solidFill>
              <a:srgbClr val="E6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133600" y="2687320"/>
            <a:ext cx="2461483" cy="101600"/>
          </a:xfrm>
          <a:prstGeom prst="roundRect">
            <a:avLst/>
          </a:prstGeom>
          <a:solidFill>
            <a:srgbClr val="E1AA2D"/>
          </a:solidFill>
          <a:ln>
            <a:solidFill>
              <a:srgbClr val="E1A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32680" y="2623820"/>
            <a:ext cx="45720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000" b="0">
                <a:solidFill>
                  <a:srgbClr val="192233"/>
                </a:solidFill>
                <a:latin typeface="Arial"/>
              </a:rPr>
              <a:t>0.904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4135120"/>
            <a:ext cx="4119880" cy="177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Чем ниже, тем лучше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45250" y="1691640"/>
            <a:ext cx="4206240" cy="1168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23050" y="1818640"/>
            <a:ext cx="38506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Интерпретация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3050" y="2047240"/>
            <a:ext cx="3850640" cy="4622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WER падает, но NoSpaceCER и CER растут. Значит, модель может править пробелы, но портить символы.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45250" y="3034727"/>
            <a:ext cx="2011680" cy="1168400"/>
          </a:xfrm>
          <a:prstGeom prst="roundRect">
            <a:avLst/>
          </a:prstGeom>
          <a:solidFill>
            <a:srgbClr val="CEF8E4"/>
          </a:solidFill>
          <a:ln>
            <a:solidFill>
              <a:srgbClr val="CEF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23050" y="3161727"/>
            <a:ext cx="16560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ByT5 improved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3050" y="3364927"/>
            <a:ext cx="165608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300" b="1">
                <a:solidFill>
                  <a:srgbClr val="1FB57C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3850" y="3738815"/>
            <a:ext cx="13716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pages by CER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31249" y="3034727"/>
            <a:ext cx="2011680" cy="1168400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09049" y="3161727"/>
            <a:ext cx="16560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ByT5 worse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9049" y="3364927"/>
            <a:ext cx="1656080" cy="355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300" b="1">
                <a:solidFill>
                  <a:srgbClr val="FF003C"/>
                </a:solidFill>
                <a:latin typeface="Arial"/>
              </a:rPr>
              <a:t>62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59849" y="3738815"/>
            <a:ext cx="13716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pages by CER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709652"/>
            <a:ext cx="9692640" cy="502920"/>
          </a:xfrm>
          <a:prstGeom prst="roundRect">
            <a:avLst/>
          </a:prstGeom>
          <a:solidFill>
            <a:srgbClr val="FDF2CC"/>
          </a:solidFill>
          <a:ln>
            <a:solidFill>
              <a:srgbClr val="FDF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46480" y="4699000"/>
            <a:ext cx="93370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A36E00"/>
                </a:solidFill>
                <a:latin typeface="Arial"/>
              </a:rPr>
              <a:t>Вывод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6480" y="4927600"/>
            <a:ext cx="9337040" cy="9652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Если символы портятся, модель нельзя считать надёжной OCR-посткоррекцией даже при более красивом WER.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WER в такой задаче нужно трактовать осторожно: улучшение токенизации ≠ восстановление текста.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6492240" cy="685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>
                <a:solidFill>
                  <a:srgbClr val="192233"/>
                </a:solidFill>
                <a:latin typeface="Arial"/>
              </a:rPr>
              <a:t>Почему перенос провалился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70432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Synthetic noise и real OCR noise имеют разную природу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4434840" cy="713232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" y="1699768"/>
            <a:ext cx="40792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406CE5"/>
                </a:solidFill>
                <a:latin typeface="Arial"/>
              </a:rPr>
              <a:t>Synthetic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1928368"/>
            <a:ext cx="4079240" cy="306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text-level искажения: замены, удаления, пробелы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42032"/>
            <a:ext cx="4434840" cy="713232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3600" y="2669032"/>
            <a:ext cx="40792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Real OCR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2897632"/>
            <a:ext cx="4079240" cy="306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scan / layout / segmentation / font errors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11296"/>
            <a:ext cx="4434840" cy="8961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3600" y="3638296"/>
            <a:ext cx="40792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92233"/>
                </a:solidFill>
                <a:latin typeface="Arial"/>
              </a:rPr>
              <a:t>Длина контекста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3866896"/>
            <a:ext cx="4079240" cy="306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модель обучалась на строках, real benchmark сейчас page-level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80560"/>
            <a:ext cx="4434840" cy="8961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3600" y="4607560"/>
            <a:ext cx="40792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92233"/>
                </a:solidFill>
                <a:latin typeface="Arial"/>
              </a:rPr>
              <a:t>OCR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4836160"/>
            <a:ext cx="4079240" cy="30683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Tesseract Arabic model не специализирован под османско-турецкую орфографию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2743200"/>
            <a:ext cx="1024128" cy="640080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real OCR
outputs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3408" y="3063240"/>
            <a:ext cx="237744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31152" y="2743200"/>
            <a:ext cx="1024128" cy="640080"/>
          </a:xfrm>
          <a:prstGeom prst="roundRect">
            <a:avLst/>
          </a:prstGeom>
          <a:solidFill>
            <a:srgbClr val="EBF2FF"/>
          </a:solidFill>
          <a:ln>
            <a:solidFill>
              <a:srgbClr val="EB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reference
chunks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55279" y="3063240"/>
            <a:ext cx="237744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93024" y="2743200"/>
            <a:ext cx="1024128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page-level
split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17152" y="3063240"/>
            <a:ext cx="237744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54896" y="2743200"/>
            <a:ext cx="1024128" cy="640080"/>
          </a:xfrm>
          <a:prstGeom prst="roundRect">
            <a:avLst/>
          </a:prstGeom>
          <a:solidFill>
            <a:srgbClr val="CEF8E4"/>
          </a:solidFill>
          <a:ln>
            <a:solidFill>
              <a:srgbClr val="CEF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92233"/>
                </a:solidFill>
                <a:latin typeface="Arial"/>
              </a:rPr>
              <a:t>domain
adaptation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0" y="4572000"/>
            <a:ext cx="4663440" cy="822960"/>
          </a:xfrm>
          <a:prstGeom prst="roundRect">
            <a:avLst/>
          </a:prstGeom>
          <a:solidFill>
            <a:srgbClr val="CEF8E4"/>
          </a:solidFill>
          <a:ln>
            <a:solidFill>
              <a:srgbClr val="CEF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892800" y="4699000"/>
            <a:ext cx="430784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1FB57C"/>
                </a:solidFill>
                <a:latin typeface="Arial"/>
              </a:rPr>
              <a:t>Следующий обязательный шаг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2800" y="4927600"/>
            <a:ext cx="4307840" cy="41656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real-domain adaptation на выровненных OCR/reference чанках с page-level split без утечки.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Отрицательный результат полезен: он показывает, что нужно улучшать не только synthetic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5349240"/>
            <a:ext cx="4572000" cy="1508760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320040" y="201168"/>
            <a:ext cx="713232" cy="237744"/>
          </a:xfrm>
          <a:prstGeom prst="round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MTC True
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164592"/>
            <a:ext cx="4023360" cy="237744"/>
          </a:xfrm>
          <a:prstGeom prst="rect">
            <a:avLst/>
          </a:prstGeom>
          <a:noFill/>
        </p:spPr>
        <p:txBody>
          <a:bodyPr wrap="square" lIns="63500" tIns="38100" rIns="63500" bIns="38100" anchor="ctr">
            <a:spAutoFit/>
          </a:bodyPr>
          <a:lstStyle/>
          <a:p>
            <a:pPr algn="l"/>
            <a:r>
              <a:rPr sz="900" b="0">
                <a:solidFill>
                  <a:srgbClr val="626B7E"/>
                </a:solidFill>
                <a:latin typeface="Arial"/>
              </a:rPr>
              <a:t>OCR post-correction • HSE course paper</a:t>
            </a:r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9144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09960" y="6446520"/>
            <a:ext cx="457200" cy="182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r"/>
            <a:r>
              <a:rPr sz="900" b="0">
                <a:solidFill>
                  <a:srgbClr val="626B7E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13232"/>
            <a:ext cx="27432" cy="475488"/>
          </a:xfrm>
          <a:prstGeom prst="rect">
            <a:avLst/>
          </a:prstGeom>
          <a:solidFill>
            <a:srgbClr val="FF003C"/>
          </a:solidFill>
          <a:ln>
            <a:solidFill>
              <a:srgbClr val="FF0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594360"/>
            <a:ext cx="6492240" cy="6858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2200" b="1">
                <a:solidFill>
                  <a:srgbClr val="192233"/>
                </a:solidFill>
                <a:latin typeface="Arial"/>
              </a:rPr>
              <a:t>Итог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70432"/>
            <a:ext cx="8229600" cy="310896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0">
                <a:solidFill>
                  <a:srgbClr val="626B7E"/>
                </a:solidFill>
                <a:latin typeface="Arial"/>
              </a:rPr>
              <a:t>Работа честно закрывает synthetic benchmark и real-OCR sanity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08760"/>
            <a:ext cx="4526280" cy="2240280"/>
          </a:xfrm>
          <a:prstGeom prst="roundRect">
            <a:avLst/>
          </a:prstGeom>
          <a:solidFill>
            <a:srgbClr val="CEF8E4"/>
          </a:solidFill>
          <a:ln>
            <a:solidFill>
              <a:srgbClr val="CEF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" y="1635760"/>
            <a:ext cx="4170680" cy="2286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1">
                <a:solidFill>
                  <a:srgbClr val="1FB57C"/>
                </a:solidFill>
                <a:latin typeface="Arial"/>
              </a:rPr>
              <a:t>Что уже есть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1915160"/>
            <a:ext cx="4119880" cy="175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92233"/>
                </a:solidFill>
                <a:latin typeface="Arial"/>
              </a:defRPr>
            </a:pPr>
            <a:r>
              <a:t>• воспроизводимый pipeline для Arabic-script Turkic OCR post-correction</a:t>
            </a:r>
          </a:p>
          <a:p>
            <a:pPr>
              <a:spcAft>
                <a:spcPts val="300"/>
              </a:spcAft>
              <a:defRPr sz="1300">
                <a:solidFill>
                  <a:srgbClr val="192233"/>
                </a:solidFill>
                <a:latin typeface="Arial"/>
              </a:defRPr>
            </a:pPr>
            <a:r>
              <a:t>• synthetic benchmark и baseline-методы</a:t>
            </a:r>
          </a:p>
          <a:p>
            <a:pPr>
              <a:spcAft>
                <a:spcPts val="300"/>
              </a:spcAft>
              <a:defRPr sz="1300">
                <a:solidFill>
                  <a:srgbClr val="192233"/>
                </a:solidFill>
                <a:latin typeface="Arial"/>
              </a:defRPr>
            </a:pPr>
            <a:r>
              <a:t>• ByT5-small 512 лучший на synthetic benchmark</a:t>
            </a:r>
          </a:p>
          <a:p>
            <a:pPr>
              <a:spcAft>
                <a:spcPts val="300"/>
              </a:spcAft>
              <a:defRPr sz="1300">
                <a:solidFill>
                  <a:srgbClr val="192233"/>
                </a:solidFill>
                <a:latin typeface="Arial"/>
              </a:defRPr>
            </a:pPr>
            <a:r>
              <a:t>• page-level real-OCR sanity check</a:t>
            </a:r>
          </a:p>
          <a:p>
            <a:pPr>
              <a:spcAft>
                <a:spcPts val="300"/>
              </a:spcAft>
              <a:defRPr sz="1300">
                <a:solidFill>
                  <a:srgbClr val="192233"/>
                </a:solidFill>
                <a:latin typeface="Arial"/>
              </a:defRPr>
            </a:pPr>
            <a:r>
              <a:t>• честно зафиксированный synthetic-to-real 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508760"/>
            <a:ext cx="4754880" cy="2240280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4200" y="1635760"/>
            <a:ext cx="4399280" cy="20320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100" b="1">
                <a:solidFill>
                  <a:srgbClr val="FF003C"/>
                </a:solidFill>
                <a:latin typeface="Arial"/>
              </a:rPr>
              <a:t>Главная фраза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4200" y="1864360"/>
            <a:ext cx="4399280" cy="1833880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1200" b="0">
                <a:solidFill>
                  <a:srgbClr val="192233"/>
                </a:solidFill>
                <a:latin typeface="Arial"/>
              </a:rPr>
              <a:t>«Это не готовая OCR-система, а хороший пилотный research pipeline с честным ограничением».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572000"/>
            <a:ext cx="9144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92233"/>
                </a:solidFill>
                <a:latin typeface="Arial"/>
              </a:rPr>
              <a:t>real
scans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28800" y="476402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029967" y="4572000"/>
            <a:ext cx="9144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92233"/>
                </a:solidFill>
                <a:latin typeface="Arial"/>
              </a:rPr>
              <a:t>OCR/HTR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44368" y="476402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145536" y="4572000"/>
            <a:ext cx="914400" cy="384048"/>
          </a:xfrm>
          <a:prstGeom prst="roundRect">
            <a:avLst/>
          </a:prstGeom>
          <a:solidFill>
            <a:srgbClr val="FFECF0"/>
          </a:solidFill>
          <a:ln>
            <a:solidFill>
              <a:srgbClr val="FF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92233"/>
                </a:solidFill>
                <a:latin typeface="Arial"/>
              </a:rPr>
              <a:t>post-
correction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59935" y="476402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61104" y="4572000"/>
            <a:ext cx="9144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92233"/>
                </a:solidFill>
                <a:latin typeface="Arial"/>
              </a:rPr>
              <a:t>search /
NER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75504" y="476402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76672" y="4572000"/>
            <a:ext cx="9144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92233"/>
                </a:solidFill>
                <a:latin typeface="Arial"/>
              </a:rPr>
              <a:t>record
linkage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91072" y="4764024"/>
            <a:ext cx="201168" cy="0"/>
          </a:xfrm>
          <a:prstGeom prst="line">
            <a:avLst/>
          </a:prstGeom>
          <a:ln w="17780">
            <a:solidFill>
              <a:srgbClr val="AA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92240" y="4572000"/>
            <a:ext cx="9144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192233"/>
                </a:solidFill>
                <a:latin typeface="Arial"/>
              </a:rPr>
              <a:t>graphs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" y="6510528"/>
            <a:ext cx="7772400" cy="164592"/>
          </a:xfrm>
          <a:prstGeom prst="rect">
            <a:avLst/>
          </a:prstGeom>
          <a:noFill/>
        </p:spPr>
        <p:txBody>
          <a:bodyPr wrap="square" lIns="63500" tIns="38100" rIns="63500" bIns="38100" anchor="t">
            <a:spAutoFit/>
          </a:bodyPr>
          <a:lstStyle/>
          <a:p>
            <a:pPr algn="l"/>
            <a:r>
              <a:rPr sz="800" b="0">
                <a:solidFill>
                  <a:srgbClr val="626B7E"/>
                </a:solidFill>
                <a:latin typeface="Arial"/>
              </a:rPr>
              <a:t>Финальная формулировка: сильная курсовая и нормальный задел для магистерской.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990</Words>
  <Application>Microsoft Office PowerPoint</Application>
  <PresentationFormat>Широкоэкранный</PresentationFormat>
  <Paragraphs>217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Radmir</dc:creator>
  <cp:keywords/>
  <dc:description>generated using python-pptx</dc:description>
  <cp:lastModifiedBy>Радмир Исламов</cp:lastModifiedBy>
  <cp:revision>4</cp:revision>
  <dcterms:created xsi:type="dcterms:W3CDTF">2013-01-27T09:14:16Z</dcterms:created>
  <dcterms:modified xsi:type="dcterms:W3CDTF">2026-06-26T02:31:46Z</dcterms:modified>
  <cp:category/>
</cp:coreProperties>
</file>